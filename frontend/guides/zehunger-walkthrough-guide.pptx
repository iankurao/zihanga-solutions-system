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0a2f43d-2028-a752-8e2d-310d6084f46e}">
          <p14:sldIdLst>
            <p14:sldId id="256"/>
            <p14:sldId id="257"/>
            <p14:sldId id="258"/>
            <p14:sldId id="259"/>
          </p14:sldIdLst>
        </p14:section>
        <p14:section name="Farm work" id="{727ed290-e36a-cd46-2359-31f38be6fcca}">
          <p14:sldIdLst>
            <p14:sldId id="260"/>
            <p14:sldId id="261"/>
            <p14:sldId id="262"/>
            <p14:sldId id="263"/>
            <p14:sldId id="264"/>
            <p14:sldId id="265"/>
            <p14:sldId id="266"/>
            <p14:sldId id="267"/>
          </p14:sldIdLst>
        </p14:section>
        <p14:section name="Quality and sales" id="{4822dbf1-055a-c132-8428-6684cc41ac60}">
          <p14:sldIdLst>
            <p14:sldId id="268"/>
            <p14:sldId id="269"/>
          </p14:sldIdLst>
        </p14:section>
        <p14:section name="Owner's view" id="{871a92fa-3dec-7b26-8d5f-b128088b4ac2}">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follow one real batch of black soldier fly larvae through the Zehunger ERP: from market waste arriving at the farm to a customer signing for dried larvae and frass fertiliser. Every screen and number you will see was recorded in the system during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journey. Steps 1 to 7 are recorded by the farm team, step 8 by the quality officer, step 9 by sales and step 10 is what the owners see. Notice the harvest produces two products: larvae, which are dried for feed, and frass, which is cured and sold as fertiliser.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role-based. Operators record work only for the farms and facilities they are assigned to. Only the QC officer can approve product into stock. Only sales and owners see customers and money. Accounts are created by an administrator; there is no self-registration.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figures from the walkthrough. 150 kilograms of market waste plus a quarantined lot came in; the batch gave 39 kg of wet larvae, dried at about 3 to 1 into 13 kg, and 60 kg of frass cured to 52 kg of fertiliser. The first customer, Mama Grace Agrovet, bought 10 kg of larvae and 40 kg of frass for KES 3,800.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records work the farm must exist. The owner builds the location tree on the Farm Setup page, adds the storage location where finished product is received, and creates an account for each person with the right role. On the live site this is the first thing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operator weighs and records each delivery of waste. Only clean organic waste can be marked available. The second lot arrived mixed with plastic, so it was quarantined: it will not appear when preparing substrate. Point out the green confirmation and the last five entries under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Substrate is the larvae feed. The form lists only available waste lots, and refuses more kilograms than a lot has left. Each waste lot used is stored as a link, which is what makes traceability work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production batch is one rearing cycle. The harvest limit stops anyone recording more harvest than the batch could produce. Every status change is kept with who made it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work is quick to record, also from a phone through the Farmer Portal. Everything is in kilograms. Open health issues, harvests that are due, QC waiting and low stock appear as alerts for the people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harvest the frass is sieved off. Entering its weight on the same form creates a frass lot automatically, so the second product is tracked from this moment. The batch is then moved to Harvested.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Drying can take harvests from several batches; the links are kept. The dried output is weighed and its moisture recorded, then the batch waits for the quality officer.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Frass is cured in heaps before it can be sold. The table at the top of the section shows where each lot is: curing, waiting for QC, approved or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quality gate. Daniel records a check, then a decision, then releases the product into stock. The database itself refuses any product lot without a passed check and an approval. Every output of a drying batch must be settled before it completes, only the latest check can be decided, and rejecting needs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adds the customer from the order form, prices each line, reserves real lots so no other order can take them, dispatches with the vehicle and driver, and confirms delivery. Revenue counts only when the customer confirms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any complaint. From the delivery, the system walks back through both product lots, the drying batch and the frass lot, the harvest, the production batch, the substrate and the waste lot. Nothing is inferred: every link was recorded when the work was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live figures for any farm, facility and period. Material flow follows both products stage by stage. The tiles show harvest, drying, frass, QC waiting, stock, open orders, deliveries, revenue and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360 puts one batch on one page: a lifecycle strip, key figures and numbered cards from source material to the audit trail. Reports cover production, processing, stock and sales, traceability and farm performance; farm performance shows waste 195 kg, harvest 39 kg, drying yield 33.3%, frass cured 52 kg and revenue KES 3,800.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guarantees to emphasise to the owners. They are enforced by the system and the database, not by trust: a product cannot reach stock without approval, quantities cannot be invented, and history cannot be erased.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comes next and open for questions. Likely questions: can a farmer fake a harvest (no: limits, links and audit trail); what if QC fails (rejected with a reason, never reaches stock); can we sell frass (yes, exactly like larvae); how do we see profit (revenue today, full sales ledger next); does it work on a phone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Z_TITLE">
    <p:bg>
      <p:bgPr>
        <a:solidFill>
          <a:schemeClr val="tx2"/>
        </a:solidFill>
      </p:bgPr>
    </p:bg>
    <p:spTree>
      <p:nvGrpSpPr>
        <p:cNvPr id="1" name=""/>
        <p:cNvGrpSpPr/>
        <p:nvPr/>
      </p:nvGrpSpPr>
      <p:grpSpPr>
        <a:xfrm>
          <a:off x="0" y="0"/>
          <a:ext cx="0" cy="0"/>
          <a:chOff x="0" y="0"/>
          <a:chExt cx="0" cy="0"/>
        </a:xfrm>
      </p:grpSpPr>
      <p:pic>
        <p:nvPicPr>
          <p:cNvPr id="2" name="Image 0" descr="C:\Users\User\Desktop\zehunger-solutions\zehunger-solutions-system\frontend\images\logo.png">    </p:cNvPr>
          <p:cNvPicPr>
            <a:picLocks noChangeAspect="1"/>
          </p:cNvPicPr>
          <p:nvPr/>
        </p:nvPicPr>
        <p:blipFill>
          <a:blip r:embed="rId1"/>
          <a:stretch>
            <a:fillRect/>
          </a:stretch>
        </p:blipFill>
        <p:spPr>
          <a:xfrm>
            <a:off x="731520" y="685800"/>
            <a:ext cx="1234440" cy="1234440"/>
          </a:xfrm>
          <a:prstGeom prst="rect">
            <a:avLst/>
          </a:prstGeom>
        </p:spPr>
      </p:pic>
      <p:sp>
        <p:nvSpPr>
          <p:cNvPr id="3" name="Text 0"/>
          <p:cNvSpPr/>
          <p:nvPr/>
        </p:nvSpPr>
        <p:spPr>
          <a:xfrm>
            <a:off x="2194560" y="868680"/>
            <a:ext cx="5486400" cy="411480"/>
          </a:xfrm>
          <a:prstGeom prst="rect">
            <a:avLst/>
          </a:prstGeom>
          <a:noFill/>
          <a:ln/>
        </p:spPr>
        <p:txBody>
          <a:bodyPr wrap="square" lIns="0" tIns="0" rIns="0" bIns="0" rtlCol="0" anchor="ctr"/>
          <a:lstStyle/>
          <a:p>
            <a:pPr indent="0" marL="0">
              <a:buNone/>
            </a:pPr>
            <a:r>
              <a:rPr lang="en-US" sz="1800" b="1" dirty="0">
                <a:solidFill>
                  <a:schemeClr val="bg1"/>
                </a:solidFill>
              </a:rPr>
              <a:t>ZEHUNGER SOLUTIONS</a:t>
            </a:r>
            <a:endParaRPr lang="en-US" sz="1800" dirty="0"/>
          </a:p>
        </p:txBody>
      </p:sp>
      <p:sp>
        <p:nvSpPr>
          <p:cNvPr id="4" name="Text 1"/>
          <p:cNvSpPr/>
          <p:nvPr/>
        </p:nvSpPr>
        <p:spPr>
          <a:xfrm>
            <a:off x="2194560" y="1280160"/>
            <a:ext cx="5486400" cy="365760"/>
          </a:xfrm>
          <a:prstGeom prst="rect">
            <a:avLst/>
          </a:prstGeom>
          <a:noFill/>
          <a:ln/>
        </p:spPr>
        <p:txBody>
          <a:bodyPr wrap="square" lIns="0" tIns="0" rIns="0" bIns="0" rtlCol="0" anchor="ctr"/>
          <a:lstStyle/>
          <a:p>
            <a:pPr indent="0" marL="0">
              <a:buNone/>
            </a:pPr>
            <a:r>
              <a:rPr lang="en-US" sz="1400" dirty="0">
                <a:solidFill>
                  <a:schemeClr val="accent6"/>
                </a:solidFill>
              </a:rPr>
              <a:t>Circular Economy ERP</a:t>
            </a:r>
            <a:endParaRPr lang="en-US" sz="1400" dirty="0"/>
          </a:p>
        </p:txBody>
      </p:sp>
      <p:sp>
        <p:nvSpPr>
          <p:cNvPr id="5" name="Text 2"/>
          <p:cNvSpPr/>
          <p:nvPr>
            <p:ph idx="103" type="title" hasCustomPrompt="1"/>
          </p:nvPr>
        </p:nvSpPr>
        <p:spPr>
          <a:xfrm>
            <a:off x="731520" y="2606040"/>
            <a:ext cx="10515600" cy="160020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6" name="Text 2"/>
          <p:cNvSpPr/>
          <p:nvPr>
            <p:ph idx="104" type="body" hasCustomPrompt="1"/>
          </p:nvPr>
        </p:nvSpPr>
        <p:spPr>
          <a:xfrm>
            <a:off x="731520" y="4343400"/>
            <a:ext cx="1051560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Z_CONTENT">
    <p:bg>
      <p:bgPr>
        <a:solidFill>
          <a:schemeClr val="bg1"/>
        </a:solidFill>
      </p:bgPr>
    </p:bg>
    <p:spTree>
      <p:nvGrpSpPr>
        <p:cNvPr id="1" name=""/>
        <p:cNvGrpSpPr/>
        <p:nvPr/>
      </p:nvGrpSpPr>
      <p:grpSpPr>
        <a:xfrm>
          <a:off x="0" y="0"/>
          <a:ext cx="0" cy="0"/>
          <a:chOff x="0" y="0"/>
          <a:chExt cx="0" cy="0"/>
        </a:xfrm>
      </p:grpSpPr>
      <p:pic>
        <p:nvPicPr>
          <p:cNvPr id="2" name="Image 0" descr="C:\Users\User\Desktop\zehunger-solutions\zehunger-solutions-system\frontend\images\logo.png">    </p:cNvPr>
          <p:cNvPicPr>
            <a:picLocks noChangeAspect="1"/>
          </p:cNvPicPr>
          <p:nvPr/>
        </p:nvPicPr>
        <p:blipFill>
          <a:blip r:embed="rId1"/>
          <a:stretch>
            <a:fillRect/>
          </a:stretch>
        </p:blipFill>
        <p:spPr>
          <a:xfrm>
            <a:off x="548640" y="6336792"/>
            <a:ext cx="310896" cy="310896"/>
          </a:xfrm>
          <a:prstGeom prst="rect">
            <a:avLst/>
          </a:prstGeom>
        </p:spPr>
      </p:pic>
      <p:sp>
        <p:nvSpPr>
          <p:cNvPr id="3" name="Text 0"/>
          <p:cNvSpPr/>
          <p:nvPr/>
        </p:nvSpPr>
        <p:spPr>
          <a:xfrm>
            <a:off x="932688" y="6336792"/>
            <a:ext cx="5486400" cy="310896"/>
          </a:xfrm>
          <a:prstGeom prst="rect">
            <a:avLst/>
          </a:prstGeom>
          <a:noFill/>
          <a:ln/>
        </p:spPr>
        <p:txBody>
          <a:bodyPr wrap="square" lIns="0" tIns="0" rIns="0" bIns="0" rtlCol="0" anchor="ctr"/>
          <a:lstStyle/>
          <a:p>
            <a:pPr indent="0" marL="0">
              <a:buNone/>
            </a:pPr>
            <a:r>
              <a:rPr lang="en-US" sz="1000" dirty="0">
                <a:solidFill>
                  <a:schemeClr val="accent5"/>
                </a:solidFill>
              </a:rPr>
              <a:t>Zehunger Solutions  ·  Phase One walkthrough</a:t>
            </a:r>
            <a:endParaRPr lang="en-US" sz="1000" dirty="0"/>
          </a:p>
        </p:txBody>
      </p:sp>
      <p:sp>
        <p:nvSpPr>
          <p:cNvPr id="4" name="Text 1"/>
          <p:cNvSpPr/>
          <p:nvPr>
            <p:ph idx="102" type="title" hasCustomPrompt="1"/>
          </p:nvPr>
        </p:nvSpPr>
        <p:spPr>
          <a:xfrm>
            <a:off x="548640" y="36576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Z_STEP">
    <p:bg>
      <p:bgPr>
        <a:solidFill>
          <a:schemeClr val="bg1"/>
        </a:solidFill>
      </p:bgPr>
    </p:bg>
    <p:spTree>
      <p:nvGrpSpPr>
        <p:cNvPr id="1" name=""/>
        <p:cNvGrpSpPr/>
        <p:nvPr/>
      </p:nvGrpSpPr>
      <p:grpSpPr>
        <a:xfrm>
          <a:off x="0" y="0"/>
          <a:ext cx="0" cy="0"/>
          <a:chOff x="0" y="0"/>
          <a:chExt cx="0" cy="0"/>
        </a:xfrm>
      </p:grpSpPr>
      <p:pic>
        <p:nvPicPr>
          <p:cNvPr id="2" name="Image 0" descr="C:\Users\User\Desktop\zehunger-solutions\zehunger-solutions-system\frontend\images\logo.png">    </p:cNvPr>
          <p:cNvPicPr>
            <a:picLocks noChangeAspect="1"/>
          </p:cNvPicPr>
          <p:nvPr/>
        </p:nvPicPr>
        <p:blipFill>
          <a:blip r:embed="rId1"/>
          <a:stretch>
            <a:fillRect/>
          </a:stretch>
        </p:blipFill>
        <p:spPr>
          <a:xfrm>
            <a:off x="548640" y="6336792"/>
            <a:ext cx="310896" cy="310896"/>
          </a:xfrm>
          <a:prstGeom prst="rect">
            <a:avLst/>
          </a:prstGeom>
        </p:spPr>
      </p:pic>
      <p:sp>
        <p:nvSpPr>
          <p:cNvPr id="3" name="Text 0"/>
          <p:cNvSpPr/>
          <p:nvPr/>
        </p:nvSpPr>
        <p:spPr>
          <a:xfrm>
            <a:off x="932688" y="6336792"/>
            <a:ext cx="5486400" cy="310896"/>
          </a:xfrm>
          <a:prstGeom prst="rect">
            <a:avLst/>
          </a:prstGeom>
          <a:noFill/>
          <a:ln/>
        </p:spPr>
        <p:txBody>
          <a:bodyPr wrap="square" lIns="0" tIns="0" rIns="0" bIns="0" rtlCol="0" anchor="ctr"/>
          <a:lstStyle/>
          <a:p>
            <a:pPr indent="0" marL="0">
              <a:buNone/>
            </a:pPr>
            <a:r>
              <a:rPr lang="en-US" sz="1000" dirty="0">
                <a:solidFill>
                  <a:schemeClr val="accent5"/>
                </a:solidFill>
              </a:rPr>
              <a:t>Zehunger Solutions  ·  Phase One walkthrough</a:t>
            </a:r>
            <a:endParaRPr lang="en-US" sz="1000" dirty="0"/>
          </a:p>
        </p:txBody>
      </p:sp>
      <p:sp>
        <p:nvSpPr>
          <p:cNvPr id="4" name="Text 1"/>
          <p:cNvSpPr/>
          <p:nvPr>
            <p:ph idx="102" type="title" hasCustomPrompt="1"/>
          </p:nvPr>
        </p:nvSpPr>
        <p:spPr>
          <a:xfrm>
            <a:off x="1463040" y="365760"/>
            <a:ext cx="10149840" cy="77724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Z_DARK">
    <p:bg>
      <p:bgPr>
        <a:solidFill>
          <a:schemeClr val="tx2"/>
        </a:solidFill>
      </p:bgPr>
    </p:bg>
    <p:spTree>
      <p:nvGrpSpPr>
        <p:cNvPr id="1" name=""/>
        <p:cNvGrpSpPr/>
        <p:nvPr/>
      </p:nvGrpSpPr>
      <p:grpSpPr>
        <a:xfrm>
          <a:off x="0" y="0"/>
          <a:ext cx="0" cy="0"/>
          <a:chOff x="0" y="0"/>
          <a:chExt cx="0" cy="0"/>
        </a:xfrm>
      </p:grpSpPr>
      <p:pic>
        <p:nvPicPr>
          <p:cNvPr id="2" name="Image 0" descr="C:\Users\User\Desktop\zehunger-solutions\zehunger-solutions-system\frontend\images\logo.png">    </p:cNvPr>
          <p:cNvPicPr>
            <a:picLocks noChangeAspect="1"/>
          </p:cNvPicPr>
          <p:nvPr/>
        </p:nvPicPr>
        <p:blipFill>
          <a:blip r:embed="rId1"/>
          <a:stretch>
            <a:fillRect/>
          </a:stretch>
        </p:blipFill>
        <p:spPr>
          <a:xfrm>
            <a:off x="548640" y="6263640"/>
            <a:ext cx="365760" cy="365760"/>
          </a:xfrm>
          <a:prstGeom prst="rect">
            <a:avLst/>
          </a:prstGeom>
        </p:spPr>
      </p:pic>
      <p:sp>
        <p:nvSpPr>
          <p:cNvPr id="3" name="Text 0"/>
          <p:cNvSpPr/>
          <p:nvPr>
            <p:ph idx="101" type="title" hasCustomPrompt="1"/>
          </p:nvPr>
        </p:nvSpPr>
        <p:spPr>
          <a:xfrm>
            <a:off x="731520" y="548640"/>
            <a:ext cx="10698480" cy="9144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3" type="title" hasCustomPrompt="1"/>
          </p:nvPr>
        </p:nvSpPr>
        <p:spPr>
          <a:xfrm>
            <a:off x="731520" y="2606040"/>
            <a:ext cx="10515600" cy="1600200"/>
          </a:xfrm>
          <a:prstGeom prst="rect">
            <a:avLst/>
          </a:prstGeom>
          <a:noFill/>
          <a:ln/>
        </p:spPr>
        <p:txBody>
          <a:bodyPr wrap="square" lIns="0" tIns="0" rIns="0" bIns="0" rtlCol="0" anchor="t"/>
          <a:lstStyle/>
          <a:p>
            <a:pPr indent="0" marL="0">
              <a:buNone/>
            </a:pPr>
            <a:r>
              <a:rPr lang="en-US" sz="4800" b="1" dirty="0">
                <a:solidFill>
                  <a:schemeClr val="bg1"/>
                </a:solidFill>
              </a:rPr>
              <a:t>Phase One Walkthrough Guide</a:t>
            </a:r>
            <a:endParaRPr lang="en-US" sz="4800" dirty="0"/>
          </a:p>
        </p:txBody>
      </p:sp>
      <p:sp>
        <p:nvSpPr>
          <p:cNvPr id="3" name="Text 2"/>
          <p:cNvSpPr/>
          <p:nvPr>
            <p:ph idx="104" type="body" hasCustomPrompt="1"/>
          </p:nvPr>
        </p:nvSpPr>
        <p:spPr>
          <a:xfrm>
            <a:off x="731520" y="4343400"/>
            <a:ext cx="10515600" cy="1097280"/>
          </a:xfrm>
          <a:prstGeom prst="rect">
            <a:avLst/>
          </a:prstGeom>
          <a:noFill/>
          <a:ln/>
        </p:spPr>
        <p:txBody>
          <a:bodyPr wrap="square" lIns="0" tIns="0" rIns="0" bIns="0" rtlCol="0" anchor="t"/>
          <a:lstStyle/>
          <a:p>
            <a:pPr indent="0" marL="0">
              <a:buNone/>
            </a:pPr>
            <a:r>
              <a:rPr lang="en-US" sz="2000" dirty="0">
                <a:solidFill>
                  <a:schemeClr val="accent6"/>
                </a:solidFill>
              </a:rPr>
              <a:t>From an empty system to a delivered, fully traced sale</a:t>
            </a:r>
            <a:endParaRPr lang="en-US" sz="2000" dirty="0"/>
          </a:p>
        </p:txBody>
      </p:sp>
      <p:sp>
        <p:nvSpPr>
          <p:cNvPr id="4" name="date"/>
          <p:cNvSpPr txBox="1"/>
          <p:nvPr/>
        </p:nvSpPr>
        <p:spPr>
          <a:xfrm>
            <a:off x="731520" y="5989320"/>
            <a:ext cx="7315200" cy="365760"/>
          </a:xfrm>
          <a:prstGeom prst="rect">
            <a:avLst/>
          </a:prstGeom>
          <a:noFill/>
          <a:ln/>
        </p:spPr>
        <p:txBody>
          <a:bodyPr wrap="square" lIns="0" tIns="0" rIns="0" bIns="0" rtlCol="0" anchor="ctr"/>
          <a:lstStyle/>
          <a:p>
            <a:pPr indent="0" marL="0">
              <a:buNone/>
            </a:pPr>
            <a:r>
              <a:rPr lang="en-US" sz="1200" dirty="0">
                <a:solidFill>
                  <a:schemeClr val="accent6"/>
                </a:solidFill>
              </a:rPr>
              <a:t>Live walkthrough recorded 30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One batch, eleven steps, two products</a:t>
            </a:r>
            <a:endParaRPr lang="en-US" sz="3400" dirty="0"/>
          </a:p>
        </p:txBody>
      </p:sp>
      <p:sp>
        <p:nvSpPr>
          <p:cNvPr id="3" name="chain-dot-0"/>
          <p:cNvSpPr/>
          <p:nvPr/>
        </p:nvSpPr>
        <p:spPr>
          <a:xfrm>
            <a:off x="1143000" y="1600200"/>
            <a:ext cx="868680" cy="868680"/>
          </a:xfrm>
          <a:prstGeom prst="ellipse">
            <a:avLst/>
          </a:prstGeom>
          <a:solidFill>
            <a:schemeClr val="tx2"/>
          </a:solidFill>
          <a:ln w="12700">
            <a:solidFill>
              <a:schemeClr val="bg1"/>
            </a:solidFill>
            <a:prstDash val="solid"/>
          </a:ln>
        </p:spPr>
      </p:sp>
      <p:sp>
        <p:nvSpPr>
          <p:cNvPr id="4" name="chain-num-0"/>
          <p:cNvSpPr txBox="1"/>
          <p:nvPr/>
        </p:nvSpPr>
        <p:spPr>
          <a:xfrm>
            <a:off x="114300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0</a:t>
            </a:r>
            <a:endParaRPr lang="en-US" sz="2200" dirty="0"/>
          </a:p>
        </p:txBody>
      </p:sp>
      <p:sp>
        <p:nvSpPr>
          <p:cNvPr id="5" name="chain-label-0"/>
          <p:cNvSpPr txBox="1"/>
          <p:nvPr/>
        </p:nvSpPr>
        <p:spPr>
          <a:xfrm>
            <a:off x="68580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Set up farm &amp; team</a:t>
            </a:r>
            <a:endParaRPr lang="en-US" sz="1400" dirty="0"/>
          </a:p>
        </p:txBody>
      </p:sp>
      <p:sp>
        <p:nvSpPr>
          <p:cNvPr id="6" name="chain-dot-1"/>
          <p:cNvSpPr/>
          <p:nvPr/>
        </p:nvSpPr>
        <p:spPr>
          <a:xfrm>
            <a:off x="3017520" y="1600200"/>
            <a:ext cx="868680" cy="868680"/>
          </a:xfrm>
          <a:prstGeom prst="ellipse">
            <a:avLst/>
          </a:prstGeom>
          <a:solidFill>
            <a:schemeClr val="tx2"/>
          </a:solidFill>
          <a:ln w="12700">
            <a:solidFill>
              <a:schemeClr val="bg1"/>
            </a:solidFill>
            <a:prstDash val="solid"/>
          </a:ln>
        </p:spPr>
      </p:sp>
      <p:sp>
        <p:nvSpPr>
          <p:cNvPr id="7" name="chain-num-1"/>
          <p:cNvSpPr txBox="1"/>
          <p:nvPr/>
        </p:nvSpPr>
        <p:spPr>
          <a:xfrm>
            <a:off x="301752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8" name="chain-label-1"/>
          <p:cNvSpPr txBox="1"/>
          <p:nvPr/>
        </p:nvSpPr>
        <p:spPr>
          <a:xfrm>
            <a:off x="256032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Waste in</a:t>
            </a:r>
            <a:endParaRPr lang="en-US" sz="1400" dirty="0"/>
          </a:p>
        </p:txBody>
      </p:sp>
      <p:sp>
        <p:nvSpPr>
          <p:cNvPr id="9" name="chain-dot-2"/>
          <p:cNvSpPr/>
          <p:nvPr/>
        </p:nvSpPr>
        <p:spPr>
          <a:xfrm>
            <a:off x="4892040" y="1600200"/>
            <a:ext cx="868680" cy="868680"/>
          </a:xfrm>
          <a:prstGeom prst="ellipse">
            <a:avLst/>
          </a:prstGeom>
          <a:solidFill>
            <a:schemeClr val="tx2"/>
          </a:solidFill>
          <a:ln w="12700">
            <a:solidFill>
              <a:schemeClr val="bg1"/>
            </a:solidFill>
            <a:prstDash val="solid"/>
          </a:ln>
        </p:spPr>
      </p:sp>
      <p:sp>
        <p:nvSpPr>
          <p:cNvPr id="10" name="chain-num-2"/>
          <p:cNvSpPr txBox="1"/>
          <p:nvPr/>
        </p:nvSpPr>
        <p:spPr>
          <a:xfrm>
            <a:off x="489204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chain-label-2"/>
          <p:cNvSpPr txBox="1"/>
          <p:nvPr/>
        </p:nvSpPr>
        <p:spPr>
          <a:xfrm>
            <a:off x="443484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Substrate</a:t>
            </a:r>
            <a:endParaRPr lang="en-US" sz="1400" dirty="0"/>
          </a:p>
        </p:txBody>
      </p:sp>
      <p:sp>
        <p:nvSpPr>
          <p:cNvPr id="12" name="chain-dot-3"/>
          <p:cNvSpPr/>
          <p:nvPr/>
        </p:nvSpPr>
        <p:spPr>
          <a:xfrm>
            <a:off x="6766560" y="1600200"/>
            <a:ext cx="868680" cy="868680"/>
          </a:xfrm>
          <a:prstGeom prst="ellipse">
            <a:avLst/>
          </a:prstGeom>
          <a:solidFill>
            <a:schemeClr val="tx2"/>
          </a:solidFill>
          <a:ln w="12700">
            <a:solidFill>
              <a:schemeClr val="bg1"/>
            </a:solidFill>
            <a:prstDash val="solid"/>
          </a:ln>
        </p:spPr>
      </p:sp>
      <p:sp>
        <p:nvSpPr>
          <p:cNvPr id="13" name="chain-num-3"/>
          <p:cNvSpPr txBox="1"/>
          <p:nvPr/>
        </p:nvSpPr>
        <p:spPr>
          <a:xfrm>
            <a:off x="676656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chain-label-3"/>
          <p:cNvSpPr txBox="1"/>
          <p:nvPr/>
        </p:nvSpPr>
        <p:spPr>
          <a:xfrm>
            <a:off x="630936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Production batch</a:t>
            </a:r>
            <a:endParaRPr lang="en-US" sz="1400" dirty="0"/>
          </a:p>
        </p:txBody>
      </p:sp>
      <p:sp>
        <p:nvSpPr>
          <p:cNvPr id="15" name="chain-dot-4"/>
          <p:cNvSpPr/>
          <p:nvPr/>
        </p:nvSpPr>
        <p:spPr>
          <a:xfrm>
            <a:off x="8641080" y="1600200"/>
            <a:ext cx="868680" cy="868680"/>
          </a:xfrm>
          <a:prstGeom prst="ellipse">
            <a:avLst/>
          </a:prstGeom>
          <a:solidFill>
            <a:schemeClr val="tx2"/>
          </a:solidFill>
          <a:ln w="12700">
            <a:solidFill>
              <a:schemeClr val="bg1"/>
            </a:solidFill>
            <a:prstDash val="solid"/>
          </a:ln>
        </p:spPr>
      </p:sp>
      <p:sp>
        <p:nvSpPr>
          <p:cNvPr id="16" name="chain-num-4"/>
          <p:cNvSpPr txBox="1"/>
          <p:nvPr/>
        </p:nvSpPr>
        <p:spPr>
          <a:xfrm>
            <a:off x="864108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chain-label-4"/>
          <p:cNvSpPr txBox="1"/>
          <p:nvPr/>
        </p:nvSpPr>
        <p:spPr>
          <a:xfrm>
            <a:off x="818388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Daily rearing</a:t>
            </a:r>
            <a:endParaRPr lang="en-US" sz="1400" dirty="0"/>
          </a:p>
        </p:txBody>
      </p:sp>
      <p:sp>
        <p:nvSpPr>
          <p:cNvPr id="18" name="chain-dot-5"/>
          <p:cNvSpPr/>
          <p:nvPr/>
        </p:nvSpPr>
        <p:spPr>
          <a:xfrm>
            <a:off x="10515600" y="1600200"/>
            <a:ext cx="868680" cy="868680"/>
          </a:xfrm>
          <a:prstGeom prst="ellipse">
            <a:avLst/>
          </a:prstGeom>
          <a:solidFill>
            <a:schemeClr val="tx2"/>
          </a:solidFill>
          <a:ln w="12700">
            <a:solidFill>
              <a:schemeClr val="bg1"/>
            </a:solidFill>
            <a:prstDash val="solid"/>
          </a:ln>
        </p:spPr>
      </p:sp>
      <p:sp>
        <p:nvSpPr>
          <p:cNvPr id="19" name="chain-num-5"/>
          <p:cNvSpPr txBox="1"/>
          <p:nvPr/>
        </p:nvSpPr>
        <p:spPr>
          <a:xfrm>
            <a:off x="10515600" y="160020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0" name="chain-label-5"/>
          <p:cNvSpPr txBox="1"/>
          <p:nvPr/>
        </p:nvSpPr>
        <p:spPr>
          <a:xfrm>
            <a:off x="10058400" y="256032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Harvest + frass</a:t>
            </a:r>
            <a:endParaRPr lang="en-US" sz="1400" dirty="0"/>
          </a:p>
        </p:txBody>
      </p:sp>
      <p:sp>
        <p:nvSpPr>
          <p:cNvPr id="21" name="chain-dot-6"/>
          <p:cNvSpPr/>
          <p:nvPr/>
        </p:nvSpPr>
        <p:spPr>
          <a:xfrm>
            <a:off x="2057400" y="3703320"/>
            <a:ext cx="868680" cy="868680"/>
          </a:xfrm>
          <a:prstGeom prst="ellipse">
            <a:avLst/>
          </a:prstGeom>
          <a:solidFill>
            <a:schemeClr val="tx2"/>
          </a:solidFill>
          <a:ln w="12700">
            <a:solidFill>
              <a:schemeClr val="bg1"/>
            </a:solidFill>
            <a:prstDash val="solid"/>
          </a:ln>
        </p:spPr>
      </p:sp>
      <p:sp>
        <p:nvSpPr>
          <p:cNvPr id="22" name="chain-num-6"/>
          <p:cNvSpPr txBox="1"/>
          <p:nvPr/>
        </p:nvSpPr>
        <p:spPr>
          <a:xfrm>
            <a:off x="2057400" y="370332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6</a:t>
            </a:r>
            <a:endParaRPr lang="en-US" sz="2200" dirty="0"/>
          </a:p>
        </p:txBody>
      </p:sp>
      <p:sp>
        <p:nvSpPr>
          <p:cNvPr id="23" name="chain-label-6"/>
          <p:cNvSpPr txBox="1"/>
          <p:nvPr/>
        </p:nvSpPr>
        <p:spPr>
          <a:xfrm>
            <a:off x="1600200" y="466344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Drying</a:t>
            </a:r>
            <a:endParaRPr lang="en-US" sz="1400" dirty="0"/>
          </a:p>
        </p:txBody>
      </p:sp>
      <p:sp>
        <p:nvSpPr>
          <p:cNvPr id="24" name="chain-dot-7"/>
          <p:cNvSpPr/>
          <p:nvPr/>
        </p:nvSpPr>
        <p:spPr>
          <a:xfrm>
            <a:off x="3931920" y="3703320"/>
            <a:ext cx="868680" cy="868680"/>
          </a:xfrm>
          <a:prstGeom prst="ellipse">
            <a:avLst/>
          </a:prstGeom>
          <a:solidFill>
            <a:schemeClr val="tx2"/>
          </a:solidFill>
          <a:ln w="12700">
            <a:solidFill>
              <a:schemeClr val="bg1"/>
            </a:solidFill>
            <a:prstDash val="solid"/>
          </a:ln>
        </p:spPr>
      </p:sp>
      <p:sp>
        <p:nvSpPr>
          <p:cNvPr id="25" name="chain-num-7"/>
          <p:cNvSpPr txBox="1"/>
          <p:nvPr/>
        </p:nvSpPr>
        <p:spPr>
          <a:xfrm>
            <a:off x="3931920" y="370332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7</a:t>
            </a:r>
            <a:endParaRPr lang="en-US" sz="2200" dirty="0"/>
          </a:p>
        </p:txBody>
      </p:sp>
      <p:sp>
        <p:nvSpPr>
          <p:cNvPr id="26" name="chain-label-7"/>
          <p:cNvSpPr txBox="1"/>
          <p:nvPr/>
        </p:nvSpPr>
        <p:spPr>
          <a:xfrm>
            <a:off x="3474720" y="466344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Frass curing</a:t>
            </a:r>
            <a:endParaRPr lang="en-US" sz="1400" dirty="0"/>
          </a:p>
        </p:txBody>
      </p:sp>
      <p:sp>
        <p:nvSpPr>
          <p:cNvPr id="27" name="chain-dot-8"/>
          <p:cNvSpPr/>
          <p:nvPr/>
        </p:nvSpPr>
        <p:spPr>
          <a:xfrm>
            <a:off x="5806440" y="3703320"/>
            <a:ext cx="868680" cy="868680"/>
          </a:xfrm>
          <a:prstGeom prst="ellipse">
            <a:avLst/>
          </a:prstGeom>
          <a:solidFill>
            <a:schemeClr val="accent1"/>
          </a:solidFill>
          <a:ln w="12700">
            <a:solidFill>
              <a:schemeClr val="bg1"/>
            </a:solidFill>
            <a:prstDash val="solid"/>
          </a:ln>
        </p:spPr>
      </p:sp>
      <p:sp>
        <p:nvSpPr>
          <p:cNvPr id="28" name="chain-num-8"/>
          <p:cNvSpPr txBox="1"/>
          <p:nvPr/>
        </p:nvSpPr>
        <p:spPr>
          <a:xfrm>
            <a:off x="5806440" y="370332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8</a:t>
            </a:r>
            <a:endParaRPr lang="en-US" sz="2200" dirty="0"/>
          </a:p>
        </p:txBody>
      </p:sp>
      <p:sp>
        <p:nvSpPr>
          <p:cNvPr id="29" name="chain-label-8"/>
          <p:cNvSpPr txBox="1"/>
          <p:nvPr/>
        </p:nvSpPr>
        <p:spPr>
          <a:xfrm>
            <a:off x="5349240" y="466344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Quality control</a:t>
            </a:r>
            <a:endParaRPr lang="en-US" sz="1400" dirty="0"/>
          </a:p>
        </p:txBody>
      </p:sp>
      <p:sp>
        <p:nvSpPr>
          <p:cNvPr id="30" name="chain-dot-9"/>
          <p:cNvSpPr/>
          <p:nvPr/>
        </p:nvSpPr>
        <p:spPr>
          <a:xfrm>
            <a:off x="7680960" y="3703320"/>
            <a:ext cx="868680" cy="868680"/>
          </a:xfrm>
          <a:prstGeom prst="ellipse">
            <a:avLst/>
          </a:prstGeom>
          <a:solidFill>
            <a:schemeClr val="tx2"/>
          </a:solidFill>
          <a:ln w="12700">
            <a:solidFill>
              <a:schemeClr val="bg1"/>
            </a:solidFill>
            <a:prstDash val="solid"/>
          </a:ln>
        </p:spPr>
      </p:sp>
      <p:sp>
        <p:nvSpPr>
          <p:cNvPr id="31" name="chain-num-9"/>
          <p:cNvSpPr txBox="1"/>
          <p:nvPr/>
        </p:nvSpPr>
        <p:spPr>
          <a:xfrm>
            <a:off x="7680960" y="370332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9</a:t>
            </a:r>
            <a:endParaRPr lang="en-US" sz="2200" dirty="0"/>
          </a:p>
        </p:txBody>
      </p:sp>
      <p:sp>
        <p:nvSpPr>
          <p:cNvPr id="32" name="chain-label-9"/>
          <p:cNvSpPr txBox="1"/>
          <p:nvPr/>
        </p:nvSpPr>
        <p:spPr>
          <a:xfrm>
            <a:off x="7223760" y="466344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Sell &amp; deliver</a:t>
            </a:r>
            <a:endParaRPr lang="en-US" sz="1400" dirty="0"/>
          </a:p>
        </p:txBody>
      </p:sp>
      <p:sp>
        <p:nvSpPr>
          <p:cNvPr id="33" name="chain-dot-10"/>
          <p:cNvSpPr/>
          <p:nvPr/>
        </p:nvSpPr>
        <p:spPr>
          <a:xfrm>
            <a:off x="9555480" y="3703320"/>
            <a:ext cx="868680" cy="868680"/>
          </a:xfrm>
          <a:prstGeom prst="ellipse">
            <a:avLst/>
          </a:prstGeom>
          <a:solidFill>
            <a:schemeClr val="tx2"/>
          </a:solidFill>
          <a:ln w="12700">
            <a:solidFill>
              <a:schemeClr val="bg1"/>
            </a:solidFill>
            <a:prstDash val="solid"/>
          </a:ln>
        </p:spPr>
      </p:sp>
      <p:sp>
        <p:nvSpPr>
          <p:cNvPr id="34" name="chain-num-10"/>
          <p:cNvSpPr txBox="1"/>
          <p:nvPr/>
        </p:nvSpPr>
        <p:spPr>
          <a:xfrm>
            <a:off x="9555480" y="3703320"/>
            <a:ext cx="868680" cy="868680"/>
          </a:xfrm>
          <a:prstGeom prst="rect">
            <a:avLst/>
          </a:prstGeom>
          <a:noFill/>
          <a:ln/>
        </p:spPr>
        <p:txBody>
          <a:bodyPr wrap="square" lIns="0" tIns="0" rIns="0" bIns="0" rtlCol="0" anchor="ctr"/>
          <a:lstStyle/>
          <a:p>
            <a:pPr algn="ctr" indent="0" marL="0">
              <a:buNone/>
            </a:pPr>
            <a:r>
              <a:rPr lang="en-US" sz="2200" b="1" dirty="0">
                <a:solidFill>
                  <a:schemeClr val="bg1"/>
                </a:solidFill>
              </a:rPr>
              <a:t>10</a:t>
            </a:r>
            <a:endParaRPr lang="en-US" sz="2200" dirty="0"/>
          </a:p>
        </p:txBody>
      </p:sp>
      <p:sp>
        <p:nvSpPr>
          <p:cNvPr id="35" name="chain-label-10"/>
          <p:cNvSpPr txBox="1"/>
          <p:nvPr/>
        </p:nvSpPr>
        <p:spPr>
          <a:xfrm>
            <a:off x="9098280" y="4663440"/>
            <a:ext cx="1783080" cy="548640"/>
          </a:xfrm>
          <a:prstGeom prst="rect">
            <a:avLst/>
          </a:prstGeom>
          <a:noFill/>
          <a:ln/>
        </p:spPr>
        <p:txBody>
          <a:bodyPr wrap="square" lIns="0" tIns="0" rIns="0" bIns="0" rtlCol="0" anchor="t"/>
          <a:lstStyle/>
          <a:p>
            <a:pPr algn="ctr" indent="0" marL="0">
              <a:buNone/>
            </a:pPr>
            <a:r>
              <a:rPr lang="en-US" sz="1400" b="1" dirty="0">
                <a:solidFill>
                  <a:schemeClr val="tx1"/>
                </a:solidFill>
              </a:rPr>
              <a:t>Owner's view</a:t>
            </a:r>
            <a:endParaRPr lang="en-US" sz="1400" dirty="0"/>
          </a:p>
        </p:txBody>
      </p:sp>
      <p:sp>
        <p:nvSpPr>
          <p:cNvPr id="36" name="chain-message"/>
          <p:cNvSpPr txBox="1"/>
          <p:nvPr/>
        </p:nvSpPr>
        <p:spPr>
          <a:xfrm>
            <a:off x="685800" y="5486400"/>
            <a:ext cx="10789920" cy="548640"/>
          </a:xfrm>
          <a:prstGeom prst="rect">
            <a:avLst/>
          </a:prstGeom>
          <a:noFill/>
          <a:ln/>
        </p:spPr>
        <p:txBody>
          <a:bodyPr wrap="square" lIns="0" tIns="0" rIns="0" bIns="0" rtlCol="0" anchor="ctr"/>
          <a:lstStyle/>
          <a:p>
            <a:pPr indent="0" marL="0">
              <a:buNone/>
            </a:pPr>
            <a:r>
              <a:rPr lang="en-US" sz="1500" i="1" dirty="0">
                <a:solidFill>
                  <a:schemeClr val="accent1"/>
                </a:solidFill>
              </a:rPr>
              <a:t>Waste becomes dried larvae (animal feed) and frass fertiliser. Every kilogram stays linked to where it came from.</a:t>
            </a:r>
            <a:endParaRPr lang="en-US" sz="15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Each person sees only their own work</a:t>
            </a:r>
            <a:endParaRPr lang="en-US" sz="3400" dirty="0"/>
          </a:p>
        </p:txBody>
      </p:sp>
      <p:sp>
        <p:nvSpPr>
          <p:cNvPr id="3" name="role-card-1"/>
          <p:cNvSpPr/>
          <p:nvPr/>
        </p:nvSpPr>
        <p:spPr>
          <a:xfrm>
            <a:off x="548640" y="1463040"/>
            <a:ext cx="2606040" cy="4206240"/>
          </a:xfrm>
          <a:prstGeom prst="roundRect">
            <a:avLst>
              <a:gd name="adj" fmla="val 3509"/>
            </a:avLst>
          </a:prstGeom>
          <a:solidFill>
            <a:schemeClr val="bg2"/>
          </a:solidFill>
          <a:ln w="12700">
            <a:solidFill>
              <a:schemeClr val="bg2"/>
            </a:solidFill>
            <a:prstDash val="solid"/>
          </a:ln>
        </p:spPr>
      </p:sp>
      <p:sp>
        <p:nvSpPr>
          <p:cNvPr id="4" name="role-dot-1"/>
          <p:cNvSpPr/>
          <p:nvPr/>
        </p:nvSpPr>
        <p:spPr>
          <a:xfrm>
            <a:off x="777240" y="1691640"/>
            <a:ext cx="685800" cy="685800"/>
          </a:xfrm>
          <a:prstGeom prst="ellipse">
            <a:avLst/>
          </a:prstGeom>
          <a:solidFill>
            <a:schemeClr val="accent1"/>
          </a:solidFill>
          <a:ln w="12700">
            <a:solidFill>
              <a:schemeClr val="accent1"/>
            </a:solidFill>
            <a:prstDash val="solid"/>
          </a:ln>
        </p:spPr>
      </p:sp>
      <p:sp>
        <p:nvSpPr>
          <p:cNvPr id="5" name="role-initial-1"/>
          <p:cNvSpPr txBox="1"/>
          <p:nvPr/>
        </p:nvSpPr>
        <p:spPr>
          <a:xfrm>
            <a:off x="777240" y="16916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O</a:t>
            </a:r>
            <a:endParaRPr lang="en-US" sz="2200" dirty="0"/>
          </a:p>
        </p:txBody>
      </p:sp>
      <p:sp>
        <p:nvSpPr>
          <p:cNvPr id="6" name="role-name-1"/>
          <p:cNvSpPr txBox="1"/>
          <p:nvPr/>
        </p:nvSpPr>
        <p:spPr>
          <a:xfrm>
            <a:off x="777240" y="2560320"/>
            <a:ext cx="2194560" cy="411480"/>
          </a:xfrm>
          <a:prstGeom prst="rect">
            <a:avLst/>
          </a:prstGeom>
          <a:noFill/>
          <a:ln/>
        </p:spPr>
        <p:txBody>
          <a:bodyPr wrap="square" lIns="0" tIns="0" rIns="0" bIns="0" rtlCol="0" anchor="ctr"/>
          <a:lstStyle/>
          <a:p>
            <a:pPr indent="0" marL="0">
              <a:buNone/>
            </a:pPr>
            <a:r>
              <a:rPr lang="en-US" sz="2000" b="1" dirty="0">
                <a:solidFill>
                  <a:schemeClr val="tx2"/>
                </a:solidFill>
              </a:rPr>
              <a:t>Owner</a:t>
            </a:r>
            <a:endParaRPr lang="en-US" sz="2000" dirty="0"/>
          </a:p>
        </p:txBody>
      </p:sp>
      <p:sp>
        <p:nvSpPr>
          <p:cNvPr id="7" name="role-title-1"/>
          <p:cNvSpPr txBox="1"/>
          <p:nvPr/>
        </p:nvSpPr>
        <p:spPr>
          <a:xfrm>
            <a:off x="777240"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Super admin</a:t>
            </a:r>
            <a:endParaRPr lang="en-US" sz="1300" dirty="0"/>
          </a:p>
        </p:txBody>
      </p:sp>
      <p:sp>
        <p:nvSpPr>
          <p:cNvPr id="8" name="bullets-1"/>
          <p:cNvSpPr txBox="1"/>
          <p:nvPr/>
        </p:nvSpPr>
        <p:spPr>
          <a:xfrm>
            <a:off x="777240" y="3520440"/>
            <a:ext cx="2194560" cy="20116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Sets up farms, stores and accounts</a:t>
            </a:r>
            <a:endParaRPr lang="en-US" sz="1400" dirty="0"/>
          </a:p>
          <a:p>
            <a:pPr marL="203200" indent="-203200">
              <a:spcAft>
                <a:spcPts val="700"/>
              </a:spcAft>
              <a:buSzPct val="100000"/>
              <a:buChar char="•"/>
            </a:pPr>
            <a:r>
              <a:rPr lang="en-US" sz="1400" dirty="0">
                <a:solidFill>
                  <a:schemeClr val="tx1"/>
                </a:solidFill>
              </a:rPr>
              <a:t>Sees trace, dashboard, reports</a:t>
            </a:r>
            <a:endParaRPr lang="en-US" sz="1400" dirty="0"/>
          </a:p>
          <a:p>
            <a:pPr marL="203200" indent="-203200">
              <a:spcAft>
                <a:spcPts val="700"/>
              </a:spcAft>
              <a:buSzPct val="100000"/>
              <a:buChar char="•"/>
            </a:pPr>
            <a:r>
              <a:rPr lang="en-US" sz="1400" dirty="0">
                <a:solidFill>
                  <a:schemeClr val="tx1"/>
                </a:solidFill>
              </a:rPr>
              <a:t>Sees money and customers</a:t>
            </a:r>
            <a:endParaRPr lang="en-US" sz="1400" dirty="0"/>
          </a:p>
        </p:txBody>
      </p:sp>
      <p:sp>
        <p:nvSpPr>
          <p:cNvPr id="9" name="role-card-2"/>
          <p:cNvSpPr/>
          <p:nvPr/>
        </p:nvSpPr>
        <p:spPr>
          <a:xfrm>
            <a:off x="3364992" y="1463040"/>
            <a:ext cx="2606040" cy="4206240"/>
          </a:xfrm>
          <a:prstGeom prst="roundRect">
            <a:avLst>
              <a:gd name="adj" fmla="val 3509"/>
            </a:avLst>
          </a:prstGeom>
          <a:solidFill>
            <a:schemeClr val="bg2"/>
          </a:solidFill>
          <a:ln w="12700">
            <a:solidFill>
              <a:schemeClr val="bg2"/>
            </a:solidFill>
            <a:prstDash val="solid"/>
          </a:ln>
        </p:spPr>
      </p:sp>
      <p:sp>
        <p:nvSpPr>
          <p:cNvPr id="10" name="role-dot-2"/>
          <p:cNvSpPr/>
          <p:nvPr/>
        </p:nvSpPr>
        <p:spPr>
          <a:xfrm>
            <a:off x="3593592" y="1691640"/>
            <a:ext cx="685800" cy="685800"/>
          </a:xfrm>
          <a:prstGeom prst="ellipse">
            <a:avLst/>
          </a:prstGeom>
          <a:solidFill>
            <a:schemeClr val="accent1"/>
          </a:solidFill>
          <a:ln w="12700">
            <a:solidFill>
              <a:schemeClr val="accent1"/>
            </a:solidFill>
            <a:prstDash val="solid"/>
          </a:ln>
        </p:spPr>
      </p:sp>
      <p:sp>
        <p:nvSpPr>
          <p:cNvPr id="11" name="role-initial-2"/>
          <p:cNvSpPr txBox="1"/>
          <p:nvPr/>
        </p:nvSpPr>
        <p:spPr>
          <a:xfrm>
            <a:off x="3593592" y="16916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P</a:t>
            </a:r>
            <a:endParaRPr lang="en-US" sz="2200" dirty="0"/>
          </a:p>
        </p:txBody>
      </p:sp>
      <p:sp>
        <p:nvSpPr>
          <p:cNvPr id="12" name="role-name-2"/>
          <p:cNvSpPr txBox="1"/>
          <p:nvPr/>
        </p:nvSpPr>
        <p:spPr>
          <a:xfrm>
            <a:off x="3593592" y="2560320"/>
            <a:ext cx="2194560" cy="411480"/>
          </a:xfrm>
          <a:prstGeom prst="rect">
            <a:avLst/>
          </a:prstGeom>
          <a:noFill/>
          <a:ln/>
        </p:spPr>
        <p:txBody>
          <a:bodyPr wrap="square" lIns="0" tIns="0" rIns="0" bIns="0" rtlCol="0" anchor="ctr"/>
          <a:lstStyle/>
          <a:p>
            <a:pPr indent="0" marL="0">
              <a:buNone/>
            </a:pPr>
            <a:r>
              <a:rPr lang="en-US" sz="2000" b="1" dirty="0">
                <a:solidFill>
                  <a:schemeClr val="tx2"/>
                </a:solidFill>
              </a:rPr>
              <a:t>Peter</a:t>
            </a:r>
            <a:endParaRPr lang="en-US" sz="2000" dirty="0"/>
          </a:p>
        </p:txBody>
      </p:sp>
      <p:sp>
        <p:nvSpPr>
          <p:cNvPr id="13" name="role-title-2"/>
          <p:cNvSpPr txBox="1"/>
          <p:nvPr/>
        </p:nvSpPr>
        <p:spPr>
          <a:xfrm>
            <a:off x="3593592"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Operator (farmer)</a:t>
            </a:r>
            <a:endParaRPr lang="en-US" sz="1300" dirty="0"/>
          </a:p>
        </p:txBody>
      </p:sp>
      <p:sp>
        <p:nvSpPr>
          <p:cNvPr id="14" name="bullets-2"/>
          <p:cNvSpPr txBox="1"/>
          <p:nvPr/>
        </p:nvSpPr>
        <p:spPr>
          <a:xfrm>
            <a:off x="3593592" y="3520440"/>
            <a:ext cx="2194560" cy="20116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Waste, substrate, batches</a:t>
            </a:r>
            <a:endParaRPr lang="en-US" sz="1400" dirty="0"/>
          </a:p>
          <a:p>
            <a:pPr marL="203200" indent="-203200">
              <a:spcAft>
                <a:spcPts val="700"/>
              </a:spcAft>
              <a:buSzPct val="100000"/>
              <a:buChar char="•"/>
            </a:pPr>
            <a:r>
              <a:rPr lang="en-US" sz="1400" dirty="0">
                <a:solidFill>
                  <a:schemeClr val="tx1"/>
                </a:solidFill>
              </a:rPr>
              <a:t>Feeding, monitoring, health</a:t>
            </a:r>
            <a:endParaRPr lang="en-US" sz="1400" dirty="0"/>
          </a:p>
          <a:p>
            <a:pPr marL="203200" indent="-203200">
              <a:spcAft>
                <a:spcPts val="700"/>
              </a:spcAft>
              <a:buSzPct val="100000"/>
              <a:buChar char="•"/>
            </a:pPr>
            <a:r>
              <a:rPr lang="en-US" sz="1400" dirty="0">
                <a:solidFill>
                  <a:schemeClr val="tx1"/>
                </a:solidFill>
              </a:rPr>
              <a:t>Harvest, drying, curing</a:t>
            </a:r>
            <a:endParaRPr lang="en-US" sz="1400" dirty="0"/>
          </a:p>
        </p:txBody>
      </p:sp>
      <p:sp>
        <p:nvSpPr>
          <p:cNvPr id="15" name="role-card-3"/>
          <p:cNvSpPr/>
          <p:nvPr/>
        </p:nvSpPr>
        <p:spPr>
          <a:xfrm>
            <a:off x="6181344" y="1463040"/>
            <a:ext cx="2606040" cy="4206240"/>
          </a:xfrm>
          <a:prstGeom prst="roundRect">
            <a:avLst>
              <a:gd name="adj" fmla="val 3509"/>
            </a:avLst>
          </a:prstGeom>
          <a:solidFill>
            <a:schemeClr val="bg2"/>
          </a:solidFill>
          <a:ln w="12700">
            <a:solidFill>
              <a:schemeClr val="bg2"/>
            </a:solidFill>
            <a:prstDash val="solid"/>
          </a:ln>
        </p:spPr>
      </p:sp>
      <p:sp>
        <p:nvSpPr>
          <p:cNvPr id="16" name="role-dot-3"/>
          <p:cNvSpPr/>
          <p:nvPr/>
        </p:nvSpPr>
        <p:spPr>
          <a:xfrm>
            <a:off x="6409944" y="1691640"/>
            <a:ext cx="685800" cy="685800"/>
          </a:xfrm>
          <a:prstGeom prst="ellipse">
            <a:avLst/>
          </a:prstGeom>
          <a:solidFill>
            <a:schemeClr val="accent1"/>
          </a:solidFill>
          <a:ln w="12700">
            <a:solidFill>
              <a:schemeClr val="accent1"/>
            </a:solidFill>
            <a:prstDash val="solid"/>
          </a:ln>
        </p:spPr>
      </p:sp>
      <p:sp>
        <p:nvSpPr>
          <p:cNvPr id="17" name="role-initial-3"/>
          <p:cNvSpPr txBox="1"/>
          <p:nvPr/>
        </p:nvSpPr>
        <p:spPr>
          <a:xfrm>
            <a:off x="6409944" y="16916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D</a:t>
            </a:r>
            <a:endParaRPr lang="en-US" sz="2200" dirty="0"/>
          </a:p>
        </p:txBody>
      </p:sp>
      <p:sp>
        <p:nvSpPr>
          <p:cNvPr id="18" name="role-name-3"/>
          <p:cNvSpPr txBox="1"/>
          <p:nvPr/>
        </p:nvSpPr>
        <p:spPr>
          <a:xfrm>
            <a:off x="6409944" y="2560320"/>
            <a:ext cx="2194560" cy="411480"/>
          </a:xfrm>
          <a:prstGeom prst="rect">
            <a:avLst/>
          </a:prstGeom>
          <a:noFill/>
          <a:ln/>
        </p:spPr>
        <p:txBody>
          <a:bodyPr wrap="square" lIns="0" tIns="0" rIns="0" bIns="0" rtlCol="0" anchor="ctr"/>
          <a:lstStyle/>
          <a:p>
            <a:pPr indent="0" marL="0">
              <a:buNone/>
            </a:pPr>
            <a:r>
              <a:rPr lang="en-US" sz="2000" b="1" dirty="0">
                <a:solidFill>
                  <a:schemeClr val="tx2"/>
                </a:solidFill>
              </a:rPr>
              <a:t>Daniel</a:t>
            </a:r>
            <a:endParaRPr lang="en-US" sz="2000" dirty="0"/>
          </a:p>
        </p:txBody>
      </p:sp>
      <p:sp>
        <p:nvSpPr>
          <p:cNvPr id="19" name="role-title-3"/>
          <p:cNvSpPr txBox="1"/>
          <p:nvPr/>
        </p:nvSpPr>
        <p:spPr>
          <a:xfrm>
            <a:off x="6409944"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QC officer</a:t>
            </a:r>
            <a:endParaRPr lang="en-US" sz="1300" dirty="0"/>
          </a:p>
        </p:txBody>
      </p:sp>
      <p:sp>
        <p:nvSpPr>
          <p:cNvPr id="20" name="bullets-3"/>
          <p:cNvSpPr txBox="1"/>
          <p:nvPr/>
        </p:nvSpPr>
        <p:spPr>
          <a:xfrm>
            <a:off x="6409944" y="3520440"/>
            <a:ext cx="2194560" cy="20116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Checks dried larvae and frass</a:t>
            </a:r>
            <a:endParaRPr lang="en-US" sz="1400" dirty="0"/>
          </a:p>
          <a:p>
            <a:pPr marL="203200" indent="-203200">
              <a:spcAft>
                <a:spcPts val="700"/>
              </a:spcAft>
              <a:buSzPct val="100000"/>
              <a:buChar char="•"/>
            </a:pPr>
            <a:r>
              <a:rPr lang="en-US" sz="1400" dirty="0">
                <a:solidFill>
                  <a:schemeClr val="tx1"/>
                </a:solidFill>
              </a:rPr>
              <a:t>Approves or rejects</a:t>
            </a:r>
            <a:endParaRPr lang="en-US" sz="1400" dirty="0"/>
          </a:p>
          <a:p>
            <a:pPr marL="203200" indent="-203200">
              <a:spcAft>
                <a:spcPts val="700"/>
              </a:spcAft>
              <a:buSzPct val="100000"/>
              <a:buChar char="•"/>
            </a:pPr>
            <a:r>
              <a:rPr lang="en-US" sz="1400" dirty="0">
                <a:solidFill>
                  <a:schemeClr val="tx1"/>
                </a:solidFill>
              </a:rPr>
              <a:t>Releases product into stock</a:t>
            </a:r>
            <a:endParaRPr lang="en-US" sz="1400" dirty="0"/>
          </a:p>
        </p:txBody>
      </p:sp>
      <p:sp>
        <p:nvSpPr>
          <p:cNvPr id="21" name="role-card-4"/>
          <p:cNvSpPr/>
          <p:nvPr/>
        </p:nvSpPr>
        <p:spPr>
          <a:xfrm>
            <a:off x="8997696" y="1463040"/>
            <a:ext cx="2606040" cy="4206240"/>
          </a:xfrm>
          <a:prstGeom prst="roundRect">
            <a:avLst>
              <a:gd name="adj" fmla="val 3509"/>
            </a:avLst>
          </a:prstGeom>
          <a:solidFill>
            <a:schemeClr val="bg2"/>
          </a:solidFill>
          <a:ln w="12700">
            <a:solidFill>
              <a:schemeClr val="bg2"/>
            </a:solidFill>
            <a:prstDash val="solid"/>
          </a:ln>
        </p:spPr>
      </p:sp>
      <p:sp>
        <p:nvSpPr>
          <p:cNvPr id="22" name="role-dot-4"/>
          <p:cNvSpPr/>
          <p:nvPr/>
        </p:nvSpPr>
        <p:spPr>
          <a:xfrm>
            <a:off x="9226296" y="1691640"/>
            <a:ext cx="685800" cy="685800"/>
          </a:xfrm>
          <a:prstGeom prst="ellipse">
            <a:avLst/>
          </a:prstGeom>
          <a:solidFill>
            <a:schemeClr val="accent1"/>
          </a:solidFill>
          <a:ln w="12700">
            <a:solidFill>
              <a:schemeClr val="accent1"/>
            </a:solidFill>
            <a:prstDash val="solid"/>
          </a:ln>
        </p:spPr>
      </p:sp>
      <p:sp>
        <p:nvSpPr>
          <p:cNvPr id="23" name="role-initial-4"/>
          <p:cNvSpPr txBox="1"/>
          <p:nvPr/>
        </p:nvSpPr>
        <p:spPr>
          <a:xfrm>
            <a:off x="9226296" y="169164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B</a:t>
            </a:r>
            <a:endParaRPr lang="en-US" sz="2200" dirty="0"/>
          </a:p>
        </p:txBody>
      </p:sp>
      <p:sp>
        <p:nvSpPr>
          <p:cNvPr id="24" name="role-name-4"/>
          <p:cNvSpPr txBox="1"/>
          <p:nvPr/>
        </p:nvSpPr>
        <p:spPr>
          <a:xfrm>
            <a:off x="9226296" y="2560320"/>
            <a:ext cx="2194560" cy="411480"/>
          </a:xfrm>
          <a:prstGeom prst="rect">
            <a:avLst/>
          </a:prstGeom>
          <a:noFill/>
          <a:ln/>
        </p:spPr>
        <p:txBody>
          <a:bodyPr wrap="square" lIns="0" tIns="0" rIns="0" bIns="0" rtlCol="0" anchor="ctr"/>
          <a:lstStyle/>
          <a:p>
            <a:pPr indent="0" marL="0">
              <a:buNone/>
            </a:pPr>
            <a:r>
              <a:rPr lang="en-US" sz="2000" b="1" dirty="0">
                <a:solidFill>
                  <a:schemeClr val="tx2"/>
                </a:solidFill>
              </a:rPr>
              <a:t>Brian</a:t>
            </a:r>
            <a:endParaRPr lang="en-US" sz="2000" dirty="0"/>
          </a:p>
        </p:txBody>
      </p:sp>
      <p:sp>
        <p:nvSpPr>
          <p:cNvPr id="25" name="role-title-4"/>
          <p:cNvSpPr txBox="1"/>
          <p:nvPr/>
        </p:nvSpPr>
        <p:spPr>
          <a:xfrm>
            <a:off x="9226296" y="2971800"/>
            <a:ext cx="2194560" cy="365760"/>
          </a:xfrm>
          <a:prstGeom prst="rect">
            <a:avLst/>
          </a:prstGeom>
          <a:noFill/>
          <a:ln/>
        </p:spPr>
        <p:txBody>
          <a:bodyPr wrap="square" lIns="0" tIns="0" rIns="0" bIns="0" rtlCol="0" anchor="ctr"/>
          <a:lstStyle/>
          <a:p>
            <a:pPr indent="0" marL="0">
              <a:buNone/>
            </a:pPr>
            <a:r>
              <a:rPr lang="en-US" sz="1300" dirty="0">
                <a:solidFill>
                  <a:schemeClr val="accent5"/>
                </a:solidFill>
              </a:rPr>
              <a:t>Sales officer</a:t>
            </a:r>
            <a:endParaRPr lang="en-US" sz="1300" dirty="0"/>
          </a:p>
        </p:txBody>
      </p:sp>
      <p:sp>
        <p:nvSpPr>
          <p:cNvPr id="26" name="bullets-4"/>
          <p:cNvSpPr txBox="1"/>
          <p:nvPr/>
        </p:nvSpPr>
        <p:spPr>
          <a:xfrm>
            <a:off x="9226296" y="3520440"/>
            <a:ext cx="2194560" cy="201168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Adds customers, takes orders</a:t>
            </a:r>
            <a:endParaRPr lang="en-US" sz="1400" dirty="0"/>
          </a:p>
          <a:p>
            <a:pPr marL="203200" indent="-203200">
              <a:spcAft>
                <a:spcPts val="700"/>
              </a:spcAft>
              <a:buSzPct val="100000"/>
              <a:buChar char="•"/>
            </a:pPr>
            <a:r>
              <a:rPr lang="en-US" sz="1400" dirty="0">
                <a:solidFill>
                  <a:schemeClr val="tx1"/>
                </a:solidFill>
              </a:rPr>
              <a:t>Reserves and dispatches stock</a:t>
            </a:r>
            <a:endParaRPr lang="en-US" sz="1400" dirty="0"/>
          </a:p>
          <a:p>
            <a:pPr marL="203200" indent="-203200">
              <a:spcAft>
                <a:spcPts val="700"/>
              </a:spcAft>
              <a:buSzPct val="100000"/>
              <a:buChar char="•"/>
            </a:pPr>
            <a:r>
              <a:rPr lang="en-US" sz="1400" dirty="0">
                <a:solidFill>
                  <a:schemeClr val="tx1"/>
                </a:solidFill>
              </a:rPr>
              <a:t>Confirms delivery</a:t>
            </a:r>
            <a:endParaRPr lang="en-US" sz="14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What one batch produced</a:t>
            </a:r>
            <a:endParaRPr lang="en-US" sz="3400" dirty="0"/>
          </a:p>
        </p:txBody>
      </p:sp>
      <p:sp>
        <p:nvSpPr>
          <p:cNvPr id="3" name="stat-card-1"/>
          <p:cNvSpPr/>
          <p:nvPr/>
        </p:nvSpPr>
        <p:spPr>
          <a:xfrm>
            <a:off x="548640" y="1508760"/>
            <a:ext cx="3520440" cy="1920240"/>
          </a:xfrm>
          <a:prstGeom prst="roundRect">
            <a:avLst>
              <a:gd name="adj" fmla="val 4762"/>
            </a:avLst>
          </a:prstGeom>
          <a:solidFill>
            <a:schemeClr val="bg2"/>
          </a:solidFill>
          <a:ln w="12700">
            <a:solidFill>
              <a:schemeClr val="bg2"/>
            </a:solidFill>
            <a:prstDash val="solid"/>
          </a:ln>
        </p:spPr>
      </p:sp>
      <p:sp>
        <p:nvSpPr>
          <p:cNvPr id="4" name="stat-value-1"/>
          <p:cNvSpPr txBox="1"/>
          <p:nvPr/>
        </p:nvSpPr>
        <p:spPr>
          <a:xfrm>
            <a:off x="822960" y="173736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195 kg</a:t>
            </a:r>
            <a:endParaRPr lang="en-US" sz="4400" dirty="0"/>
          </a:p>
        </p:txBody>
      </p:sp>
      <p:sp>
        <p:nvSpPr>
          <p:cNvPr id="5" name="stat-label-1"/>
          <p:cNvSpPr txBox="1"/>
          <p:nvPr/>
        </p:nvSpPr>
        <p:spPr>
          <a:xfrm>
            <a:off x="822960" y="2697480"/>
            <a:ext cx="3017520" cy="502920"/>
          </a:xfrm>
          <a:prstGeom prst="rect">
            <a:avLst/>
          </a:prstGeom>
          <a:noFill/>
          <a:ln/>
        </p:spPr>
        <p:txBody>
          <a:bodyPr wrap="square" lIns="0" tIns="0" rIns="0" bIns="0" rtlCol="0" anchor="t"/>
          <a:lstStyle/>
          <a:p>
            <a:pPr indent="0" marL="0">
              <a:buNone/>
            </a:pPr>
            <a:r>
              <a:rPr lang="en-US" sz="1500" dirty="0">
                <a:solidFill>
                  <a:schemeClr val="tx1"/>
                </a:solidFill>
              </a:rPr>
              <a:t>organic waste received</a:t>
            </a:r>
            <a:endParaRPr lang="en-US" sz="1500" dirty="0"/>
          </a:p>
        </p:txBody>
      </p:sp>
      <p:sp>
        <p:nvSpPr>
          <p:cNvPr id="6" name="stat-card-2"/>
          <p:cNvSpPr/>
          <p:nvPr/>
        </p:nvSpPr>
        <p:spPr>
          <a:xfrm>
            <a:off x="4297680" y="1508760"/>
            <a:ext cx="3520440" cy="1920240"/>
          </a:xfrm>
          <a:prstGeom prst="roundRect">
            <a:avLst>
              <a:gd name="adj" fmla="val 4762"/>
            </a:avLst>
          </a:prstGeom>
          <a:solidFill>
            <a:schemeClr val="bg2"/>
          </a:solidFill>
          <a:ln w="12700">
            <a:solidFill>
              <a:schemeClr val="bg2"/>
            </a:solidFill>
            <a:prstDash val="solid"/>
          </a:ln>
        </p:spPr>
      </p:sp>
      <p:sp>
        <p:nvSpPr>
          <p:cNvPr id="7" name="stat-value-2"/>
          <p:cNvSpPr txBox="1"/>
          <p:nvPr/>
        </p:nvSpPr>
        <p:spPr>
          <a:xfrm>
            <a:off x="4572000" y="173736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39 kg</a:t>
            </a:r>
            <a:endParaRPr lang="en-US" sz="4400" dirty="0"/>
          </a:p>
        </p:txBody>
      </p:sp>
      <p:sp>
        <p:nvSpPr>
          <p:cNvPr id="8" name="stat-label-2"/>
          <p:cNvSpPr txBox="1"/>
          <p:nvPr/>
        </p:nvSpPr>
        <p:spPr>
          <a:xfrm>
            <a:off x="4572000" y="2697480"/>
            <a:ext cx="3017520" cy="502920"/>
          </a:xfrm>
          <a:prstGeom prst="rect">
            <a:avLst/>
          </a:prstGeom>
          <a:noFill/>
          <a:ln/>
        </p:spPr>
        <p:txBody>
          <a:bodyPr wrap="square" lIns="0" tIns="0" rIns="0" bIns="0" rtlCol="0" anchor="t"/>
          <a:lstStyle/>
          <a:p>
            <a:pPr indent="0" marL="0">
              <a:buNone/>
            </a:pPr>
            <a:r>
              <a:rPr lang="en-US" sz="1500" dirty="0">
                <a:solidFill>
                  <a:schemeClr val="tx1"/>
                </a:solidFill>
              </a:rPr>
              <a:t>wet larvae harvested</a:t>
            </a:r>
            <a:endParaRPr lang="en-US" sz="1500" dirty="0"/>
          </a:p>
        </p:txBody>
      </p:sp>
      <p:sp>
        <p:nvSpPr>
          <p:cNvPr id="9" name="stat-card-3"/>
          <p:cNvSpPr/>
          <p:nvPr/>
        </p:nvSpPr>
        <p:spPr>
          <a:xfrm>
            <a:off x="8046720" y="1508760"/>
            <a:ext cx="3520440" cy="1920240"/>
          </a:xfrm>
          <a:prstGeom prst="roundRect">
            <a:avLst>
              <a:gd name="adj" fmla="val 4762"/>
            </a:avLst>
          </a:prstGeom>
          <a:solidFill>
            <a:schemeClr val="bg2"/>
          </a:solidFill>
          <a:ln w="12700">
            <a:solidFill>
              <a:schemeClr val="bg2"/>
            </a:solidFill>
            <a:prstDash val="solid"/>
          </a:ln>
        </p:spPr>
      </p:sp>
      <p:sp>
        <p:nvSpPr>
          <p:cNvPr id="10" name="stat-value-3"/>
          <p:cNvSpPr txBox="1"/>
          <p:nvPr/>
        </p:nvSpPr>
        <p:spPr>
          <a:xfrm>
            <a:off x="8321040" y="173736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13 kg</a:t>
            </a:r>
            <a:endParaRPr lang="en-US" sz="4400" dirty="0"/>
          </a:p>
        </p:txBody>
      </p:sp>
      <p:sp>
        <p:nvSpPr>
          <p:cNvPr id="11" name="stat-label-3"/>
          <p:cNvSpPr txBox="1"/>
          <p:nvPr/>
        </p:nvSpPr>
        <p:spPr>
          <a:xfrm>
            <a:off x="8321040" y="2697480"/>
            <a:ext cx="3017520" cy="502920"/>
          </a:xfrm>
          <a:prstGeom prst="rect">
            <a:avLst/>
          </a:prstGeom>
          <a:noFill/>
          <a:ln/>
        </p:spPr>
        <p:txBody>
          <a:bodyPr wrap="square" lIns="0" tIns="0" rIns="0" bIns="0" rtlCol="0" anchor="t"/>
          <a:lstStyle/>
          <a:p>
            <a:pPr indent="0" marL="0">
              <a:buNone/>
            </a:pPr>
            <a:r>
              <a:rPr lang="en-US" sz="1500" dirty="0">
                <a:solidFill>
                  <a:schemeClr val="tx1"/>
                </a:solidFill>
              </a:rPr>
              <a:t>dried larvae released</a:t>
            </a:r>
            <a:endParaRPr lang="en-US" sz="1500" dirty="0"/>
          </a:p>
        </p:txBody>
      </p:sp>
      <p:sp>
        <p:nvSpPr>
          <p:cNvPr id="12" name="stat-card-4"/>
          <p:cNvSpPr/>
          <p:nvPr/>
        </p:nvSpPr>
        <p:spPr>
          <a:xfrm>
            <a:off x="548640" y="3703320"/>
            <a:ext cx="3520440" cy="1920240"/>
          </a:xfrm>
          <a:prstGeom prst="roundRect">
            <a:avLst>
              <a:gd name="adj" fmla="val 4762"/>
            </a:avLst>
          </a:prstGeom>
          <a:solidFill>
            <a:schemeClr val="bg2"/>
          </a:solidFill>
          <a:ln w="12700">
            <a:solidFill>
              <a:schemeClr val="bg2"/>
            </a:solidFill>
            <a:prstDash val="solid"/>
          </a:ln>
        </p:spPr>
      </p:sp>
      <p:sp>
        <p:nvSpPr>
          <p:cNvPr id="13" name="stat-value-4"/>
          <p:cNvSpPr txBox="1"/>
          <p:nvPr/>
        </p:nvSpPr>
        <p:spPr>
          <a:xfrm>
            <a:off x="822960" y="393192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52 kg</a:t>
            </a:r>
            <a:endParaRPr lang="en-US" sz="4400" dirty="0"/>
          </a:p>
        </p:txBody>
      </p:sp>
      <p:sp>
        <p:nvSpPr>
          <p:cNvPr id="14" name="stat-label-4"/>
          <p:cNvSpPr txBox="1"/>
          <p:nvPr/>
        </p:nvSpPr>
        <p:spPr>
          <a:xfrm>
            <a:off x="822960" y="4892040"/>
            <a:ext cx="3017520" cy="502920"/>
          </a:xfrm>
          <a:prstGeom prst="rect">
            <a:avLst/>
          </a:prstGeom>
          <a:noFill/>
          <a:ln/>
        </p:spPr>
        <p:txBody>
          <a:bodyPr wrap="square" lIns="0" tIns="0" rIns="0" bIns="0" rtlCol="0" anchor="t"/>
          <a:lstStyle/>
          <a:p>
            <a:pPr indent="0" marL="0">
              <a:buNone/>
            </a:pPr>
            <a:r>
              <a:rPr lang="en-US" sz="1500" dirty="0">
                <a:solidFill>
                  <a:schemeClr val="tx1"/>
                </a:solidFill>
              </a:rPr>
              <a:t>frass fertiliser released</a:t>
            </a:r>
            <a:endParaRPr lang="en-US" sz="1500" dirty="0"/>
          </a:p>
        </p:txBody>
      </p:sp>
      <p:sp>
        <p:nvSpPr>
          <p:cNvPr id="15" name="stat-card-5"/>
          <p:cNvSpPr/>
          <p:nvPr/>
        </p:nvSpPr>
        <p:spPr>
          <a:xfrm>
            <a:off x="4297680" y="3703320"/>
            <a:ext cx="3520440" cy="1920240"/>
          </a:xfrm>
          <a:prstGeom prst="roundRect">
            <a:avLst>
              <a:gd name="adj" fmla="val 4762"/>
            </a:avLst>
          </a:prstGeom>
          <a:solidFill>
            <a:schemeClr val="bg2"/>
          </a:solidFill>
          <a:ln w="12700">
            <a:solidFill>
              <a:schemeClr val="bg2"/>
            </a:solidFill>
            <a:prstDash val="solid"/>
          </a:ln>
        </p:spPr>
      </p:sp>
      <p:sp>
        <p:nvSpPr>
          <p:cNvPr id="16" name="stat-value-5"/>
          <p:cNvSpPr txBox="1"/>
          <p:nvPr/>
        </p:nvSpPr>
        <p:spPr>
          <a:xfrm>
            <a:off x="4572000" y="393192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KES 3,800</a:t>
            </a:r>
            <a:endParaRPr lang="en-US" sz="4400" dirty="0"/>
          </a:p>
        </p:txBody>
      </p:sp>
      <p:sp>
        <p:nvSpPr>
          <p:cNvPr id="17" name="stat-label-5"/>
          <p:cNvSpPr txBox="1"/>
          <p:nvPr/>
        </p:nvSpPr>
        <p:spPr>
          <a:xfrm>
            <a:off x="4572000" y="4892040"/>
            <a:ext cx="3017520" cy="502920"/>
          </a:xfrm>
          <a:prstGeom prst="rect">
            <a:avLst/>
          </a:prstGeom>
          <a:noFill/>
          <a:ln/>
        </p:spPr>
        <p:txBody>
          <a:bodyPr wrap="square" lIns="0" tIns="0" rIns="0" bIns="0" rtlCol="0" anchor="t"/>
          <a:lstStyle/>
          <a:p>
            <a:pPr indent="0" marL="0">
              <a:buNone/>
            </a:pPr>
            <a:r>
              <a:rPr lang="en-US" sz="1500" dirty="0">
                <a:solidFill>
                  <a:schemeClr val="tx1"/>
                </a:solidFill>
              </a:rPr>
              <a:t>delivered to the first customer</a:t>
            </a:r>
            <a:endParaRPr lang="en-US" sz="1500" dirty="0"/>
          </a:p>
        </p:txBody>
      </p:sp>
      <p:sp>
        <p:nvSpPr>
          <p:cNvPr id="18" name="stat-card-6"/>
          <p:cNvSpPr/>
          <p:nvPr/>
        </p:nvSpPr>
        <p:spPr>
          <a:xfrm>
            <a:off x="8046720" y="3703320"/>
            <a:ext cx="3520440" cy="1920240"/>
          </a:xfrm>
          <a:prstGeom prst="roundRect">
            <a:avLst>
              <a:gd name="adj" fmla="val 4762"/>
            </a:avLst>
          </a:prstGeom>
          <a:solidFill>
            <a:schemeClr val="bg2"/>
          </a:solidFill>
          <a:ln w="12700">
            <a:solidFill>
              <a:schemeClr val="bg2"/>
            </a:solidFill>
            <a:prstDash val="solid"/>
          </a:ln>
        </p:spPr>
      </p:sp>
      <p:sp>
        <p:nvSpPr>
          <p:cNvPr id="19" name="stat-value-6"/>
          <p:cNvSpPr txBox="1"/>
          <p:nvPr/>
        </p:nvSpPr>
        <p:spPr>
          <a:xfrm>
            <a:off x="8321040" y="3931920"/>
            <a:ext cx="3017520" cy="914400"/>
          </a:xfrm>
          <a:prstGeom prst="rect">
            <a:avLst/>
          </a:prstGeom>
          <a:noFill/>
          <a:ln/>
        </p:spPr>
        <p:txBody>
          <a:bodyPr wrap="square" lIns="0" tIns="0" rIns="0" bIns="0" rtlCol="0" anchor="ctr"/>
          <a:lstStyle/>
          <a:p>
            <a:pPr indent="0" marL="0">
              <a:buNone/>
            </a:pPr>
            <a:r>
              <a:rPr lang="en-US" sz="4400" b="1" dirty="0">
                <a:solidFill>
                  <a:schemeClr val="accent1"/>
                </a:solidFill>
              </a:rPr>
              <a:t>9 links</a:t>
            </a:r>
            <a:endParaRPr lang="en-US" sz="4400" dirty="0"/>
          </a:p>
        </p:txBody>
      </p:sp>
      <p:sp>
        <p:nvSpPr>
          <p:cNvPr id="20" name="stat-label-6"/>
          <p:cNvSpPr txBox="1"/>
          <p:nvPr/>
        </p:nvSpPr>
        <p:spPr>
          <a:xfrm>
            <a:off x="8321040" y="4892040"/>
            <a:ext cx="3017520" cy="502920"/>
          </a:xfrm>
          <a:prstGeom prst="rect">
            <a:avLst/>
          </a:prstGeom>
          <a:noFill/>
          <a:ln/>
        </p:spPr>
        <p:txBody>
          <a:bodyPr wrap="square" lIns="0" tIns="0" rIns="0" bIns="0" rtlCol="0" anchor="t"/>
          <a:lstStyle/>
          <a:p>
            <a:pPr indent="0" marL="0">
              <a:buNone/>
            </a:pPr>
            <a:r>
              <a:rPr lang="en-US" sz="1500" dirty="0">
                <a:solidFill>
                  <a:schemeClr val="tx1"/>
                </a:solidFill>
              </a:rPr>
              <a:t>from delivery back to the market</a:t>
            </a:r>
            <a:endParaRPr lang="en-US" sz="15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ep-chip-5"/>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6"/>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0</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Set up the farm and the team</a:t>
            </a:r>
            <a:endParaRPr lang="en-US" sz="3200" dirty="0"/>
          </a:p>
        </p:txBody>
      </p:sp>
      <p:sp>
        <p:nvSpPr>
          <p:cNvPr id="5" name="who-where-7"/>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Owner (super admin)  ·  More → Farm Setup</a:t>
            </a:r>
            <a:endParaRPr lang="en-US" sz="1200" dirty="0"/>
          </a:p>
        </p:txBody>
      </p:sp>
      <p:sp>
        <p:nvSpPr>
          <p:cNvPr id="6" name="bullets-8"/>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Organization → farm → site → facilities</a:t>
            </a:r>
            <a:endParaRPr lang="en-US" sz="1400" dirty="0"/>
          </a:p>
          <a:p>
            <a:pPr marL="203200" indent="-203200">
              <a:spcAft>
                <a:spcPts val="700"/>
              </a:spcAft>
              <a:buSzPct val="100000"/>
              <a:buChar char="•"/>
            </a:pPr>
            <a:r>
              <a:rPr lang="en-US" sz="1400" dirty="0">
                <a:solidFill>
                  <a:schemeClr val="tx1"/>
                </a:solidFill>
              </a:rPr>
              <a:t>Facilities: Waste Store, Larvae House A, Solar Dryer, Product Store</a:t>
            </a:r>
            <a:endParaRPr lang="en-US" sz="1400" dirty="0"/>
          </a:p>
          <a:p>
            <a:pPr marL="203200" indent="-203200">
              <a:spcAft>
                <a:spcPts val="700"/>
              </a:spcAft>
              <a:buSzPct val="100000"/>
              <a:buChar char="•"/>
            </a:pPr>
            <a:r>
              <a:rPr lang="en-US" sz="1400" dirty="0">
                <a:solidFill>
                  <a:schemeClr val="tx1"/>
                </a:solidFill>
              </a:rPr>
              <a:t>Store location Store bay 1 receives released product</a:t>
            </a:r>
            <a:endParaRPr lang="en-US" sz="1400" dirty="0"/>
          </a:p>
          <a:p>
            <a:pPr marL="203200" indent="-203200">
              <a:spcAft>
                <a:spcPts val="700"/>
              </a:spcAft>
              <a:buSzPct val="100000"/>
              <a:buChar char="•"/>
            </a:pPr>
            <a:r>
              <a:rPr lang="en-US" sz="1400" dirty="0">
                <a:solidFill>
                  <a:schemeClr val="tx1"/>
                </a:solidFill>
              </a:rPr>
              <a:t>Bio-pods A01, A02 in the larvae house</a:t>
            </a:r>
            <a:endParaRPr lang="en-US" sz="1400" dirty="0"/>
          </a:p>
          <a:p>
            <a:pPr marL="203200" indent="-203200">
              <a:spcAft>
                <a:spcPts val="700"/>
              </a:spcAft>
              <a:buSzPct val="100000"/>
              <a:buChar char="•"/>
            </a:pPr>
            <a:r>
              <a:rPr lang="en-US" sz="1400" dirty="0">
                <a:solidFill>
                  <a:schemeClr val="tx1"/>
                </a:solidFill>
              </a:rPr>
              <a:t>Accounts by role, with access to the farm</a:t>
            </a:r>
            <a:endParaRPr lang="en-US" sz="1400" dirty="0"/>
          </a:p>
        </p:txBody>
      </p:sp>
      <p:sp>
        <p:nvSpPr>
          <p:cNvPr id="7" name="result-box-9"/>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10"/>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Places are deactivated, never deleted, so history is kept</a:t>
            </a:r>
            <a:endParaRPr lang="en-US" sz="1400" dirty="0"/>
          </a:p>
        </p:txBody>
      </p:sp>
      <p:sp>
        <p:nvSpPr>
          <p:cNvPr id="9" name="shot-frame-11"/>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12" descr="farm setup">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ep-chip-13"/>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14"/>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Record the waste coming in</a:t>
            </a:r>
            <a:endParaRPr lang="en-US" sz="3200" dirty="0"/>
          </a:p>
        </p:txBody>
      </p:sp>
      <p:sp>
        <p:nvSpPr>
          <p:cNvPr id="5" name="who-where-15"/>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Waste Management → Waste Sourcing</a:t>
            </a:r>
            <a:endParaRPr lang="en-US" sz="1200" dirty="0"/>
          </a:p>
        </p:txBody>
      </p:sp>
      <p:sp>
        <p:nvSpPr>
          <p:cNvPr id="6" name="bullets-16"/>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Farm, site and facility; date and time filled in</a:t>
            </a:r>
            <a:endParaRPr lang="en-US" sz="1400" dirty="0"/>
          </a:p>
          <a:p>
            <a:pPr marL="203200" indent="-203200">
              <a:spcAft>
                <a:spcPts val="700"/>
              </a:spcAft>
              <a:buSzPct val="100000"/>
              <a:buChar char="•"/>
            </a:pPr>
            <a:r>
              <a:rPr lang="en-US" sz="1400" dirty="0">
                <a:solidFill>
                  <a:schemeClr val="tx1"/>
                </a:solidFill>
              </a:rPr>
              <a:t>Source: Kericho Municipal Market (market)</a:t>
            </a:r>
            <a:endParaRPr lang="en-US" sz="1400" dirty="0"/>
          </a:p>
          <a:p>
            <a:pPr marL="203200" indent="-203200">
              <a:spcAft>
                <a:spcPts val="700"/>
              </a:spcAft>
              <a:buSzPct val="100000"/>
              <a:buChar char="•"/>
            </a:pPr>
            <a:r>
              <a:rPr lang="en-US" sz="1400" dirty="0">
                <a:solidFill>
                  <a:schemeClr val="tx1"/>
                </a:solidFill>
              </a:rPr>
              <a:t>Vegetable waste, 150 kg, organic, Available</a:t>
            </a:r>
            <a:endParaRPr lang="en-US" sz="1400" dirty="0"/>
          </a:p>
          <a:p>
            <a:pPr marL="203200" indent="-203200">
              <a:spcAft>
                <a:spcPts val="700"/>
              </a:spcAft>
              <a:buSzPct val="100000"/>
              <a:buChar char="•"/>
            </a:pPr>
            <a:r>
              <a:rPr lang="en-US" sz="1400" dirty="0">
                <a:solidFill>
                  <a:schemeClr val="tx1"/>
                </a:solidFill>
              </a:rPr>
              <a:t>A mixed 45 kg lot is set to Quarantined</a:t>
            </a:r>
            <a:endParaRPr lang="en-US" sz="1400" dirty="0"/>
          </a:p>
          <a:p>
            <a:pPr marL="203200" indent="-203200">
              <a:spcAft>
                <a:spcPts val="700"/>
              </a:spcAft>
              <a:buSzPct val="100000"/>
              <a:buChar char="•"/>
            </a:pPr>
            <a:r>
              <a:rPr lang="en-US" sz="1400" dirty="0">
                <a:solidFill>
                  <a:schemeClr val="tx1"/>
                </a:solidFill>
              </a:rPr>
              <a:t>Quarantined waste can never be used</a:t>
            </a:r>
            <a:endParaRPr lang="en-US" sz="1400" dirty="0"/>
          </a:p>
        </p:txBody>
      </p:sp>
      <p:sp>
        <p:nvSpPr>
          <p:cNvPr id="7" name="result-box-17"/>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18"/>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WL-2026-00001  ·  150 kg available</a:t>
            </a:r>
            <a:endParaRPr lang="en-US" sz="1400" dirty="0"/>
          </a:p>
        </p:txBody>
      </p:sp>
      <p:sp>
        <p:nvSpPr>
          <p:cNvPr id="9" name="shot-frame-19"/>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20" descr="waste sourcing">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ep-chip-21"/>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22"/>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Prepare the substrate</a:t>
            </a:r>
            <a:endParaRPr lang="en-US" sz="3200" dirty="0"/>
          </a:p>
        </p:txBody>
      </p:sp>
      <p:sp>
        <p:nvSpPr>
          <p:cNvPr id="5" name="who-where-23"/>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Larval Production → Substrate Preparation</a:t>
            </a:r>
            <a:endParaRPr lang="en-US" sz="1200" dirty="0"/>
          </a:p>
        </p:txBody>
      </p:sp>
      <p:sp>
        <p:nvSpPr>
          <p:cNvPr id="6" name="bullets-24"/>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Only available waste lots on the farm are offered</a:t>
            </a:r>
            <a:endParaRPr lang="en-US" sz="1400" dirty="0"/>
          </a:p>
          <a:p>
            <a:pPr marL="203200" indent="-203200">
              <a:spcAft>
                <a:spcPts val="700"/>
              </a:spcAft>
              <a:buSzPct val="100000"/>
              <a:buChar char="•"/>
            </a:pPr>
            <a:r>
              <a:rPr lang="en-US" sz="1400" dirty="0">
                <a:solidFill>
                  <a:schemeClr val="tx1"/>
                </a:solidFill>
              </a:rPr>
              <a:t>Use 120 kg of WL-2026-00001</a:t>
            </a:r>
            <a:endParaRPr lang="en-US" sz="1400" dirty="0"/>
          </a:p>
          <a:p>
            <a:pPr marL="203200" indent="-203200">
              <a:spcAft>
                <a:spcPts val="700"/>
              </a:spcAft>
              <a:buSzPct val="100000"/>
              <a:buChar char="•"/>
            </a:pPr>
            <a:r>
              <a:rPr lang="en-US" sz="1400" dirty="0">
                <a:solidFill>
                  <a:schemeClr val="tx1"/>
                </a:solidFill>
              </a:rPr>
              <a:t>Several lots can go into one batch</a:t>
            </a:r>
            <a:endParaRPr lang="en-US" sz="1400" dirty="0"/>
          </a:p>
          <a:p>
            <a:pPr marL="203200" indent="-203200">
              <a:spcAft>
                <a:spcPts val="700"/>
              </a:spcAft>
              <a:buSzPct val="100000"/>
              <a:buChar char="•"/>
            </a:pPr>
            <a:r>
              <a:rPr lang="en-US" sz="1400" dirty="0">
                <a:solidFill>
                  <a:schemeClr val="tx1"/>
                </a:solidFill>
              </a:rPr>
              <a:t>You cannot use more than a lot has left</a:t>
            </a:r>
            <a:endParaRPr lang="en-US" sz="1400" dirty="0"/>
          </a:p>
        </p:txBody>
      </p:sp>
      <p:sp>
        <p:nvSpPr>
          <p:cNvPr id="7" name="result-box-25"/>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26"/>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SUB-2026-00001  ·  120 kg (30 kg waste left)</a:t>
            </a:r>
            <a:endParaRPr lang="en-US" sz="1400" dirty="0"/>
          </a:p>
        </p:txBody>
      </p:sp>
      <p:sp>
        <p:nvSpPr>
          <p:cNvPr id="9" name="shot-frame-27"/>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28" descr="substrate">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ep-chip-29"/>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30"/>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Start a production batch</a:t>
            </a:r>
            <a:endParaRPr lang="en-US" sz="3200" dirty="0"/>
          </a:p>
        </p:txBody>
      </p:sp>
      <p:sp>
        <p:nvSpPr>
          <p:cNvPr id="5" name="who-where-31"/>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Batches → Production batch record → New batch</a:t>
            </a:r>
            <a:endParaRPr lang="en-US" sz="1200" dirty="0"/>
          </a:p>
        </p:txBody>
      </p:sp>
      <p:sp>
        <p:nvSpPr>
          <p:cNvPr id="6" name="bullets-32"/>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Larvae House A, bio-pod A01</a:t>
            </a:r>
            <a:endParaRPr lang="en-US" sz="1400" dirty="0"/>
          </a:p>
          <a:p>
            <a:pPr marL="203200" indent="-203200">
              <a:spcAft>
                <a:spcPts val="700"/>
              </a:spcAft>
              <a:buSzPct val="100000"/>
              <a:buChar char="•"/>
            </a:pPr>
            <a:r>
              <a:rPr lang="en-US" sz="1400" dirty="0">
                <a:solidFill>
                  <a:schemeClr val="tx1"/>
                </a:solidFill>
              </a:rPr>
              <a:t>100 kg of SUB-2026-00001 issued</a:t>
            </a:r>
            <a:endParaRPr lang="en-US" sz="1400" dirty="0"/>
          </a:p>
          <a:p>
            <a:pPr marL="203200" indent="-203200">
              <a:spcAft>
                <a:spcPts val="700"/>
              </a:spcAft>
              <a:buSzPct val="100000"/>
              <a:buChar char="•"/>
            </a:pPr>
            <a:r>
              <a:rPr lang="en-US" sz="1400" dirty="0">
                <a:solidFill>
                  <a:schemeClr val="tx1"/>
                </a:solidFill>
              </a:rPr>
              <a:t>Harvest limit 40 kg caps every harvest</a:t>
            </a:r>
            <a:endParaRPr lang="en-US" sz="1400" dirty="0"/>
          </a:p>
          <a:p>
            <a:pPr marL="203200" indent="-203200">
              <a:spcAft>
                <a:spcPts val="700"/>
              </a:spcAft>
              <a:buSzPct val="100000"/>
              <a:buChar char="•"/>
            </a:pPr>
            <a:r>
              <a:rPr lang="en-US" sz="1400" dirty="0">
                <a:solidFill>
                  <a:schemeClr val="tx1"/>
                </a:solidFill>
              </a:rPr>
              <a:t>Planned → Active → Monitoring → Ready for harvest → Harvested</a:t>
            </a:r>
            <a:endParaRPr lang="en-US" sz="1400" dirty="0"/>
          </a:p>
        </p:txBody>
      </p:sp>
      <p:sp>
        <p:nvSpPr>
          <p:cNvPr id="7" name="result-box-33"/>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34"/>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BSF-2026-00001  ·  status history kept</a:t>
            </a:r>
            <a:endParaRPr lang="en-US" sz="1400" dirty="0"/>
          </a:p>
        </p:txBody>
      </p:sp>
      <p:sp>
        <p:nvSpPr>
          <p:cNvPr id="9" name="shot-frame-35"/>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36" descr="production batch">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tep-chip-37"/>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38"/>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Record daily rearing</a:t>
            </a:r>
            <a:endParaRPr lang="en-US" sz="3200" dirty="0"/>
          </a:p>
        </p:txBody>
      </p:sp>
      <p:sp>
        <p:nvSpPr>
          <p:cNvPr id="5" name="who-where-39"/>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Larval Production</a:t>
            </a:r>
            <a:endParaRPr lang="en-US" sz="1200" dirty="0"/>
          </a:p>
        </p:txBody>
      </p:sp>
      <p:sp>
        <p:nvSpPr>
          <p:cNvPr id="6" name="bullets-40"/>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Feeding: feed type and kilograms offered and eaten</a:t>
            </a:r>
            <a:endParaRPr lang="en-US" sz="1400" dirty="0"/>
          </a:p>
          <a:p>
            <a:pPr marL="203200" indent="-203200">
              <a:spcAft>
                <a:spcPts val="700"/>
              </a:spcAft>
              <a:buSzPct val="100000"/>
              <a:buChar char="•"/>
            </a:pPr>
            <a:r>
              <a:rPr lang="en-US" sz="1400" dirty="0">
                <a:solidFill>
                  <a:schemeClr val="tx1"/>
                </a:solidFill>
              </a:rPr>
              <a:t>Environmental monitoring: temperature, humidity</a:t>
            </a:r>
            <a:endParaRPr lang="en-US" sz="1400" dirty="0"/>
          </a:p>
          <a:p>
            <a:pPr marL="203200" indent="-203200">
              <a:spcAft>
                <a:spcPts val="700"/>
              </a:spcAft>
              <a:buSzPct val="100000"/>
              <a:buChar char="•"/>
            </a:pPr>
            <a:r>
              <a:rPr lang="en-US" sz="1400" dirty="0">
                <a:solidFill>
                  <a:schemeClr val="tx1"/>
                </a:solidFill>
              </a:rPr>
              <a:t>Health and intervention: issue, severity, action</a:t>
            </a:r>
            <a:endParaRPr lang="en-US" sz="1400" dirty="0"/>
          </a:p>
          <a:p>
            <a:pPr marL="203200" indent="-203200">
              <a:spcAft>
                <a:spcPts val="700"/>
              </a:spcAft>
              <a:buSzPct val="100000"/>
              <a:buChar char="•"/>
            </a:pPr>
            <a:r>
              <a:rPr lang="en-US" sz="1400" dirty="0">
                <a:solidFill>
                  <a:schemeClr val="tx1"/>
                </a:solidFill>
              </a:rPr>
              <a:t>Batch picker attaches every record to the right batch</a:t>
            </a:r>
            <a:endParaRPr lang="en-US" sz="1400" dirty="0"/>
          </a:p>
          <a:p>
            <a:pPr marL="203200" indent="-203200">
              <a:spcAft>
                <a:spcPts val="700"/>
              </a:spcAft>
              <a:buSzPct val="100000"/>
              <a:buChar char="•"/>
            </a:pPr>
            <a:r>
              <a:rPr lang="en-US" sz="1400" dirty="0">
                <a:solidFill>
                  <a:schemeClr val="tx1"/>
                </a:solidFill>
              </a:rPr>
              <a:t>Health issues and due harvests raise alerts</a:t>
            </a:r>
            <a:endParaRPr lang="en-US" sz="1400" dirty="0"/>
          </a:p>
        </p:txBody>
      </p:sp>
      <p:sp>
        <p:nvSpPr>
          <p:cNvPr id="7" name="result-box-41"/>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42"/>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EVT-000001 to EVT-000003</a:t>
            </a:r>
            <a:endParaRPr lang="en-US" sz="1400" dirty="0"/>
          </a:p>
        </p:txBody>
      </p:sp>
      <p:sp>
        <p:nvSpPr>
          <p:cNvPr id="9" name="shot-frame-43"/>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44" descr="feeding">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tep-chip-45"/>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46"/>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Harvest the larvae and separate the frass</a:t>
            </a:r>
            <a:endParaRPr lang="en-US" sz="3200" dirty="0"/>
          </a:p>
        </p:txBody>
      </p:sp>
      <p:sp>
        <p:nvSpPr>
          <p:cNvPr id="5" name="who-where-47"/>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Larval Production → Harvest &amp; Yield</a:t>
            </a:r>
            <a:endParaRPr lang="en-US" sz="1200" dirty="0"/>
          </a:p>
        </p:txBody>
      </p:sp>
      <p:sp>
        <p:nvSpPr>
          <p:cNvPr id="6" name="bullets-48"/>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Batch must be Ready for harvest</a:t>
            </a:r>
            <a:endParaRPr lang="en-US" sz="1400" dirty="0"/>
          </a:p>
          <a:p>
            <a:pPr marL="203200" indent="-203200">
              <a:spcAft>
                <a:spcPts val="700"/>
              </a:spcAft>
              <a:buSzPct val="100000"/>
              <a:buChar char="•"/>
            </a:pPr>
            <a:r>
              <a:rPr lang="en-US" sz="1400" dirty="0">
                <a:solidFill>
                  <a:schemeClr val="tx1"/>
                </a:solidFill>
              </a:rPr>
              <a:t>Wet weight 36 kg, stage prepupae</a:t>
            </a:r>
            <a:endParaRPr lang="en-US" sz="1400" dirty="0"/>
          </a:p>
          <a:p>
            <a:pPr marL="203200" indent="-203200">
              <a:spcAft>
                <a:spcPts val="700"/>
              </a:spcAft>
              <a:buSzPct val="100000"/>
              <a:buChar char="•"/>
            </a:pPr>
            <a:r>
              <a:rPr lang="en-US" sz="1400" dirty="0">
                <a:solidFill>
                  <a:schemeClr val="tx1"/>
                </a:solidFill>
              </a:rPr>
              <a:t>Frass separated: 52 kg → a frass lot starts curing</a:t>
            </a:r>
            <a:endParaRPr lang="en-US" sz="1400" dirty="0"/>
          </a:p>
          <a:p>
            <a:pPr marL="203200" indent="-203200">
              <a:spcAft>
                <a:spcPts val="700"/>
              </a:spcAft>
              <a:buSzPct val="100000"/>
              <a:buChar char="•"/>
            </a:pPr>
            <a:r>
              <a:rPr lang="en-US" sz="1400" dirty="0">
                <a:solidFill>
                  <a:schemeClr val="tx1"/>
                </a:solidFill>
              </a:rPr>
              <a:t>Second pick: 3 kg larvae, 8 kg frass</a:t>
            </a:r>
            <a:endParaRPr lang="en-US" sz="1400" dirty="0"/>
          </a:p>
          <a:p>
            <a:pPr marL="203200" indent="-203200">
              <a:spcAft>
                <a:spcPts val="700"/>
              </a:spcAft>
              <a:buSzPct val="100000"/>
              <a:buChar char="•"/>
            </a:pPr>
            <a:r>
              <a:rPr lang="en-US" sz="1400" dirty="0">
                <a:solidFill>
                  <a:schemeClr val="tx1"/>
                </a:solidFill>
              </a:rPr>
              <a:t>Total stays under the 40 kg limit</a:t>
            </a:r>
            <a:endParaRPr lang="en-US" sz="1400" dirty="0"/>
          </a:p>
        </p:txBody>
      </p:sp>
      <p:sp>
        <p:nvSpPr>
          <p:cNvPr id="7" name="result-box-49"/>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50"/>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HRV-2026-00001  ·  FRS-2026-00001 (52 kg)</a:t>
            </a:r>
            <a:endParaRPr lang="en-US" sz="1400" dirty="0"/>
          </a:p>
        </p:txBody>
      </p:sp>
      <p:sp>
        <p:nvSpPr>
          <p:cNvPr id="9" name="shot-frame-51"/>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52" descr="harvest frass">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ep-chip-53"/>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54"/>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6</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Dry the larvae</a:t>
            </a:r>
            <a:endParaRPr lang="en-US" sz="3200" dirty="0"/>
          </a:p>
        </p:txBody>
      </p:sp>
      <p:sp>
        <p:nvSpPr>
          <p:cNvPr id="5" name="who-where-55"/>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Drying Process</a:t>
            </a:r>
            <a:endParaRPr lang="en-US" sz="1200" dirty="0"/>
          </a:p>
        </p:txBody>
      </p:sp>
      <p:sp>
        <p:nvSpPr>
          <p:cNvPr id="6" name="bullets-56"/>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Start a drying batch at the Solar Dryer with 36 kg wet</a:t>
            </a:r>
            <a:endParaRPr lang="en-US" sz="1400" dirty="0"/>
          </a:p>
          <a:p>
            <a:pPr marL="203200" indent="-203200">
              <a:spcAft>
                <a:spcPts val="700"/>
              </a:spcAft>
              <a:buSzPct val="100000"/>
              <a:buChar char="•"/>
            </a:pPr>
            <a:r>
              <a:rPr lang="en-US" sz="1400" dirty="0">
                <a:solidFill>
                  <a:schemeClr val="tx1"/>
                </a:solidFill>
              </a:rPr>
              <a:t>Draft → Received → Drying → Waiting for QC</a:t>
            </a:r>
            <a:endParaRPr lang="en-US" sz="1400" dirty="0"/>
          </a:p>
          <a:p>
            <a:pPr marL="203200" indent="-203200">
              <a:spcAft>
                <a:spcPts val="700"/>
              </a:spcAft>
              <a:buSzPct val="100000"/>
              <a:buChar char="•"/>
            </a:pPr>
            <a:r>
              <a:rPr lang="en-US" sz="1400" dirty="0">
                <a:solidFill>
                  <a:schemeClr val="tx1"/>
                </a:solidFill>
              </a:rPr>
              <a:t>Record dried output: 12 kg at 8% moisture</a:t>
            </a:r>
            <a:endParaRPr lang="en-US" sz="1400" dirty="0"/>
          </a:p>
          <a:p>
            <a:pPr marL="203200" indent="-203200">
              <a:spcAft>
                <a:spcPts val="700"/>
              </a:spcAft>
              <a:buSzPct val="100000"/>
              <a:buChar char="•"/>
            </a:pPr>
            <a:r>
              <a:rPr lang="en-US" sz="1400" dirty="0">
                <a:solidFill>
                  <a:schemeClr val="tx1"/>
                </a:solidFill>
              </a:rPr>
              <a:t>Yield 33.3%, about 3 to 1 as the guideline says</a:t>
            </a:r>
            <a:endParaRPr lang="en-US" sz="1400" dirty="0"/>
          </a:p>
        </p:txBody>
      </p:sp>
      <p:sp>
        <p:nvSpPr>
          <p:cNvPr id="7" name="result-box-57"/>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58"/>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DRY-2026-00001  ·  waiting for QC</a:t>
            </a:r>
            <a:endParaRPr lang="en-US" sz="1400" dirty="0"/>
          </a:p>
        </p:txBody>
      </p:sp>
      <p:sp>
        <p:nvSpPr>
          <p:cNvPr id="9" name="shot-frame-59"/>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60" descr="drying batch">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tep-chip-61"/>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62"/>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7</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Cure the frass</a:t>
            </a:r>
            <a:endParaRPr lang="en-US" sz="3200" dirty="0"/>
          </a:p>
        </p:txBody>
      </p:sp>
      <p:sp>
        <p:nvSpPr>
          <p:cNvPr id="5" name="who-where-63"/>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Operator  ·  Data entry → Frass &amp; Fertiliser</a:t>
            </a:r>
            <a:endParaRPr lang="en-US" sz="1200" dirty="0"/>
          </a:p>
        </p:txBody>
      </p:sp>
      <p:sp>
        <p:nvSpPr>
          <p:cNvPr id="6" name="bullets-64"/>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Frass lots table shows every lot and its status</a:t>
            </a:r>
            <a:endParaRPr lang="en-US" sz="1400" dirty="0"/>
          </a:p>
          <a:p>
            <a:pPr marL="203200" indent="-203200">
              <a:spcAft>
                <a:spcPts val="700"/>
              </a:spcAft>
              <a:buSzPct val="100000"/>
              <a:buChar char="•"/>
            </a:pPr>
            <a:r>
              <a:rPr lang="en-US" sz="1400" dirty="0">
                <a:solidFill>
                  <a:schemeClr val="tx1"/>
                </a:solidFill>
              </a:rPr>
              <a:t>Curing checks: heap temperature and moisture</a:t>
            </a:r>
            <a:endParaRPr lang="en-US" sz="1400" dirty="0"/>
          </a:p>
          <a:p>
            <a:pPr marL="203200" indent="-203200">
              <a:spcAft>
                <a:spcPts val="700"/>
              </a:spcAft>
              <a:buSzPct val="100000"/>
              <a:buChar char="•"/>
            </a:pPr>
            <a:r>
              <a:rPr lang="en-US" sz="1400" dirty="0">
                <a:solidFill>
                  <a:schemeClr val="tx1"/>
                </a:solidFill>
              </a:rPr>
              <a:t>Finish curing: 52 kg became 45 kg</a:t>
            </a:r>
            <a:endParaRPr lang="en-US" sz="1400" dirty="0"/>
          </a:p>
          <a:p>
            <a:pPr marL="203200" indent="-203200">
              <a:spcAft>
                <a:spcPts val="700"/>
              </a:spcAft>
              <a:buSzPct val="100000"/>
              <a:buChar char="•"/>
            </a:pPr>
            <a:r>
              <a:rPr lang="en-US" sz="1400" dirty="0">
                <a:solidFill>
                  <a:schemeClr val="tx1"/>
                </a:solidFill>
              </a:rPr>
              <a:t>At least one check needed; cured weight cannot exceed separated</a:t>
            </a:r>
            <a:endParaRPr lang="en-US" sz="1400" dirty="0"/>
          </a:p>
        </p:txBody>
      </p:sp>
      <p:sp>
        <p:nvSpPr>
          <p:cNvPr id="7" name="result-box-65"/>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66"/>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FRS-2026-00001  ·  cured, waiting for QC</a:t>
            </a:r>
            <a:endParaRPr lang="en-US" sz="1400" dirty="0"/>
          </a:p>
        </p:txBody>
      </p:sp>
      <p:sp>
        <p:nvSpPr>
          <p:cNvPr id="9" name="shot-frame-67"/>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68" descr="frass lots">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tep-chip-69"/>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70"/>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8</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Quality control: check, decide, release</a:t>
            </a:r>
            <a:endParaRPr lang="en-US" sz="3200" dirty="0"/>
          </a:p>
        </p:txBody>
      </p:sp>
      <p:sp>
        <p:nvSpPr>
          <p:cNvPr id="5" name="who-where-71"/>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QC officer (Daniel)  ·  Drying Process and Frass &amp; Fertiliser</a:t>
            </a:r>
            <a:endParaRPr lang="en-US" sz="1200" dirty="0"/>
          </a:p>
        </p:txBody>
      </p:sp>
      <p:sp>
        <p:nvSpPr>
          <p:cNvPr id="6" name="bullets-72"/>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Check: sand, contaminants, colour, moisture, result</a:t>
            </a:r>
            <a:endParaRPr lang="en-US" sz="1400" dirty="0"/>
          </a:p>
          <a:p>
            <a:pPr marL="203200" indent="-203200">
              <a:spcAft>
                <a:spcPts val="700"/>
              </a:spcAft>
              <a:buSzPct val="100000"/>
              <a:buChar char="•"/>
            </a:pPr>
            <a:r>
              <a:rPr lang="en-US" sz="1400" dirty="0">
                <a:solidFill>
                  <a:schemeClr val="tx1"/>
                </a:solidFill>
              </a:rPr>
              <a:t>Decide: approve, or reject with a reason</a:t>
            </a:r>
            <a:endParaRPr lang="en-US" sz="1400" dirty="0"/>
          </a:p>
          <a:p>
            <a:pPr marL="203200" indent="-203200">
              <a:spcAft>
                <a:spcPts val="700"/>
              </a:spcAft>
              <a:buSzPct val="100000"/>
              <a:buChar char="•"/>
            </a:pPr>
            <a:r>
              <a:rPr lang="en-US" sz="1400" dirty="0">
                <a:solidFill>
                  <a:schemeClr val="tx1"/>
                </a:solidFill>
              </a:rPr>
              <a:t>Release: into Store bay 1, filled in for him</a:t>
            </a:r>
            <a:endParaRPr lang="en-US" sz="1400" dirty="0"/>
          </a:p>
          <a:p>
            <a:pPr marL="203200" indent="-203200">
              <a:spcAft>
                <a:spcPts val="700"/>
              </a:spcAft>
              <a:buSzPct val="100000"/>
              <a:buChar char="•"/>
            </a:pPr>
            <a:r>
              <a:rPr lang="en-US" sz="1400" dirty="0">
                <a:solidFill>
                  <a:schemeClr val="tx1"/>
                </a:solidFill>
              </a:rPr>
              <a:t>Frass passes only when mature and clean</a:t>
            </a:r>
            <a:endParaRPr lang="en-US" sz="1400" dirty="0"/>
          </a:p>
          <a:p>
            <a:pPr marL="203200" indent="-203200">
              <a:spcAft>
                <a:spcPts val="700"/>
              </a:spcAft>
              <a:buSzPct val="100000"/>
              <a:buChar char="•"/>
            </a:pPr>
            <a:r>
              <a:rPr lang="en-US" sz="1400" dirty="0">
                <a:solidFill>
                  <a:schemeClr val="tx1"/>
                </a:solidFill>
              </a:rPr>
              <a:t>No product reaches stock without both</a:t>
            </a:r>
            <a:endParaRPr lang="en-US" sz="1400" dirty="0"/>
          </a:p>
        </p:txBody>
      </p:sp>
      <p:sp>
        <p:nvSpPr>
          <p:cNvPr id="7" name="result-box-73"/>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74"/>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LOT-2026-00001 (12 kg)  ·  LOT-2026-00002 (45 kg)</a:t>
            </a:r>
            <a:endParaRPr lang="en-US" sz="1400" dirty="0"/>
          </a:p>
        </p:txBody>
      </p:sp>
      <p:sp>
        <p:nvSpPr>
          <p:cNvPr id="9" name="shot-frame-75"/>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76" descr="quality control">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tep-chip-77"/>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78"/>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9</a:t>
            </a:r>
            <a:endParaRPr lang="en-US" sz="24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Sell and deliver</a:t>
            </a:r>
            <a:endParaRPr lang="en-US" sz="3200" dirty="0"/>
          </a:p>
        </p:txBody>
      </p:sp>
      <p:sp>
        <p:nvSpPr>
          <p:cNvPr id="5" name="who-where-79"/>
          <p:cNvSpPr txBox="1"/>
          <p:nvPr/>
        </p:nvSpPr>
        <p:spPr>
          <a:xfrm>
            <a:off x="548640" y="1371600"/>
            <a:ext cx="4343400" cy="502920"/>
          </a:xfrm>
          <a:prstGeom prst="rect">
            <a:avLst/>
          </a:prstGeom>
          <a:noFill/>
          <a:ln/>
        </p:spPr>
        <p:txBody>
          <a:bodyPr wrap="square" lIns="0" tIns="0" rIns="0" bIns="0" rtlCol="0" anchor="t"/>
          <a:lstStyle/>
          <a:p>
            <a:pPr indent="0" marL="0">
              <a:buNone/>
            </a:pPr>
            <a:r>
              <a:rPr lang="en-US" sz="1200" dirty="0">
                <a:solidFill>
                  <a:schemeClr val="accent5"/>
                </a:solidFill>
              </a:rPr>
              <a:t>Sales officer (Brian)  ·  Orders</a:t>
            </a:r>
            <a:endParaRPr lang="en-US" sz="1200" dirty="0"/>
          </a:p>
        </p:txBody>
      </p:sp>
      <p:sp>
        <p:nvSpPr>
          <p:cNvPr id="6" name="bullets-80"/>
          <p:cNvSpPr txBox="1"/>
          <p:nvPr/>
        </p:nvSpPr>
        <p:spPr>
          <a:xfrm>
            <a:off x="548640" y="1965960"/>
            <a:ext cx="4343400" cy="288036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New customer: Mama Grace Agrovet</a:t>
            </a:r>
            <a:endParaRPr lang="en-US" sz="1400" dirty="0"/>
          </a:p>
          <a:p>
            <a:pPr marL="203200" indent="-203200">
              <a:spcAft>
                <a:spcPts val="700"/>
              </a:spcAft>
              <a:buSzPct val="100000"/>
              <a:buChar char="•"/>
            </a:pPr>
            <a:r>
              <a:rPr lang="en-US" sz="1400" dirty="0">
                <a:solidFill>
                  <a:schemeClr val="tx1"/>
                </a:solidFill>
              </a:rPr>
              <a:t>Order: 10 kg larvae at KES 220, 40 kg frass at KES 40</a:t>
            </a:r>
            <a:endParaRPr lang="en-US" sz="1400" dirty="0"/>
          </a:p>
          <a:p>
            <a:pPr marL="203200" indent="-203200">
              <a:spcAft>
                <a:spcPts val="700"/>
              </a:spcAft>
              <a:buSzPct val="100000"/>
              <a:buChar char="•"/>
            </a:pPr>
            <a:r>
              <a:rPr lang="en-US" sz="1400" dirty="0">
                <a:solidFill>
                  <a:schemeClr val="tx1"/>
                </a:solidFill>
              </a:rPr>
              <a:t>Reserve stock, oldest lots first</a:t>
            </a:r>
            <a:endParaRPr lang="en-US" sz="1400" dirty="0"/>
          </a:p>
          <a:p>
            <a:pPr marL="203200" indent="-203200">
              <a:spcAft>
                <a:spcPts val="700"/>
              </a:spcAft>
              <a:buSzPct val="100000"/>
              <a:buChar char="•"/>
            </a:pPr>
            <a:r>
              <a:rPr lang="en-US" sz="1400" dirty="0">
                <a:solidFill>
                  <a:schemeClr val="tx1"/>
                </a:solidFill>
              </a:rPr>
              <a:t>Dispatch: KDA 123B, driver Joseph Kiprono</a:t>
            </a:r>
            <a:endParaRPr lang="en-US" sz="1400" dirty="0"/>
          </a:p>
          <a:p>
            <a:pPr marL="203200" indent="-203200">
              <a:spcAft>
                <a:spcPts val="700"/>
              </a:spcAft>
              <a:buSzPct val="100000"/>
              <a:buChar char="•"/>
            </a:pPr>
            <a:r>
              <a:rPr lang="en-US" sz="1400" dirty="0">
                <a:solidFill>
                  <a:schemeClr val="tx1"/>
                </a:solidFill>
              </a:rPr>
              <a:t>Confirm delivery: received by Grace Chebet</a:t>
            </a:r>
            <a:endParaRPr lang="en-US" sz="1400" dirty="0"/>
          </a:p>
        </p:txBody>
      </p:sp>
      <p:sp>
        <p:nvSpPr>
          <p:cNvPr id="7" name="result-box-81"/>
          <p:cNvSpPr/>
          <p:nvPr/>
        </p:nvSpPr>
        <p:spPr>
          <a:xfrm>
            <a:off x="548640" y="5029200"/>
            <a:ext cx="4343400" cy="868680"/>
          </a:xfrm>
          <a:prstGeom prst="roundRect">
            <a:avLst>
              <a:gd name="adj" fmla="val 8421"/>
            </a:avLst>
          </a:prstGeom>
          <a:solidFill>
            <a:schemeClr val="bg2"/>
          </a:solidFill>
          <a:ln w="12700">
            <a:solidFill>
              <a:schemeClr val="bg2"/>
            </a:solidFill>
            <a:prstDash val="solid"/>
          </a:ln>
        </p:spPr>
      </p:sp>
      <p:sp>
        <p:nvSpPr>
          <p:cNvPr id="8" name="result-82"/>
          <p:cNvSpPr txBox="1"/>
          <p:nvPr/>
        </p:nvSpPr>
        <p:spPr>
          <a:xfrm>
            <a:off x="713232" y="5029200"/>
            <a:ext cx="4014216" cy="868680"/>
          </a:xfrm>
          <a:prstGeom prst="rect">
            <a:avLst/>
          </a:prstGeom>
          <a:noFill/>
          <a:ln/>
        </p:spPr>
        <p:txBody>
          <a:bodyPr wrap="square" lIns="0" tIns="0" rIns="0" bIns="0" rtlCol="0" anchor="ctr"/>
          <a:lstStyle/>
          <a:p>
            <a:pPr indent="0" marL="0">
              <a:buNone/>
            </a:pPr>
            <a:r>
              <a:rPr lang="en-US" sz="1400" b="1" dirty="0">
                <a:solidFill>
                  <a:schemeClr val="tx2"/>
                </a:solidFill>
              </a:rPr>
              <a:t>Result: ORD-2026-00001  ·  DEL-2026-00001  ·  KES 3,800</a:t>
            </a:r>
            <a:endParaRPr lang="en-US" sz="1400" dirty="0"/>
          </a:p>
        </p:txBody>
      </p:sp>
      <p:sp>
        <p:nvSpPr>
          <p:cNvPr id="9" name="shot-frame-83"/>
          <p:cNvSpPr/>
          <p:nvPr/>
        </p:nvSpPr>
        <p:spPr>
          <a:xfrm>
            <a:off x="5221224" y="1426464"/>
            <a:ext cx="6473952" cy="40736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10" name="shot-84" descr="order">    </p:cNvPr>
          <p:cNvPicPr>
            <a:picLocks noChangeAspect="1"/>
          </p:cNvPicPr>
          <p:nvPr/>
        </p:nvPicPr>
        <p:blipFill>
          <a:blip r:embed="rId1"/>
          <a:stretch>
            <a:fillRect/>
          </a:stretch>
        </p:blipFill>
        <p:spPr>
          <a:xfrm>
            <a:off x="5257800" y="1463040"/>
            <a:ext cx="6400800" cy="4000500"/>
          </a:xfrm>
          <a:prstGeom prst="rect">
            <a:avLst/>
          </a:prstGeom>
        </p:spPr>
      </p:pic>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tep-chip-85"/>
          <p:cNvSpPr/>
          <p:nvPr/>
        </p:nvSpPr>
        <p:spPr>
          <a:xfrm>
            <a:off x="548640" y="393192"/>
            <a:ext cx="731520" cy="731520"/>
          </a:xfrm>
          <a:prstGeom prst="ellipse">
            <a:avLst/>
          </a:prstGeom>
          <a:solidFill>
            <a:schemeClr val="accent1"/>
          </a:solidFill>
          <a:ln w="12700">
            <a:solidFill>
              <a:schemeClr val="accent1"/>
            </a:solidFill>
            <a:prstDash val="solid"/>
          </a:ln>
        </p:spPr>
      </p:sp>
      <p:sp>
        <p:nvSpPr>
          <p:cNvPr id="3" name="step-number-86"/>
          <p:cNvSpPr txBox="1"/>
          <p:nvPr/>
        </p:nvSpPr>
        <p:spPr>
          <a:xfrm>
            <a:off x="548640" y="393192"/>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rPr>
              <a:t>10</a:t>
            </a:r>
            <a:endParaRPr lang="en-US" sz="2000" dirty="0"/>
          </a:p>
        </p:txBody>
      </p:sp>
      <p:sp>
        <p:nvSpPr>
          <p:cNvPr id="4" name="Text 1"/>
          <p:cNvSpPr/>
          <p:nvPr>
            <p:ph idx="102" type="title" hasCustomPrompt="1"/>
          </p:nvPr>
        </p:nvSpPr>
        <p:spPr>
          <a:xfrm>
            <a:off x="1463040" y="365760"/>
            <a:ext cx="10149840" cy="777240"/>
          </a:xfrm>
          <a:prstGeom prst="rect">
            <a:avLst/>
          </a:prstGeom>
          <a:noFill/>
          <a:ln/>
        </p:spPr>
        <p:txBody>
          <a:bodyPr wrap="square" lIns="0" tIns="0" rIns="0" bIns="0" rtlCol="0" anchor="ctr"/>
          <a:lstStyle/>
          <a:p>
            <a:pPr indent="0" marL="0">
              <a:buNone/>
            </a:pPr>
            <a:r>
              <a:rPr lang="en-US" sz="3200" b="1" dirty="0">
                <a:solidFill>
                  <a:schemeClr val="tx2"/>
                </a:solidFill>
              </a:rPr>
              <a:t>Trace any delivery back to the market</a:t>
            </a:r>
            <a:endParaRPr lang="en-US" sz="3200" dirty="0"/>
          </a:p>
        </p:txBody>
      </p:sp>
      <p:sp>
        <p:nvSpPr>
          <p:cNvPr id="5" name="shot-frame-87"/>
          <p:cNvSpPr/>
          <p:nvPr/>
        </p:nvSpPr>
        <p:spPr>
          <a:xfrm>
            <a:off x="740664" y="1380744"/>
            <a:ext cx="7022592" cy="44165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6" name="shot-88" descr="traceability">    </p:cNvPr>
          <p:cNvPicPr>
            <a:picLocks noChangeAspect="1"/>
          </p:cNvPicPr>
          <p:nvPr/>
        </p:nvPicPr>
        <p:blipFill>
          <a:blip r:embed="rId1"/>
          <a:stretch>
            <a:fillRect/>
          </a:stretch>
        </p:blipFill>
        <p:spPr>
          <a:xfrm>
            <a:off x="777240" y="1417320"/>
            <a:ext cx="6949440" cy="4343400"/>
          </a:xfrm>
          <a:prstGeom prst="rect">
            <a:avLst/>
          </a:prstGeom>
        </p:spPr>
      </p:pic>
      <p:sp>
        <p:nvSpPr>
          <p:cNvPr id="7" name="bullets-89"/>
          <p:cNvSpPr txBox="1"/>
          <p:nvPr/>
        </p:nvSpPr>
        <p:spPr>
          <a:xfrm>
            <a:off x="8229600" y="1508760"/>
            <a:ext cx="3383280" cy="420624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tx1"/>
                </a:solidFill>
              </a:rPr>
              <a:t>Enter DEL-2026-00001 and press Trace</a:t>
            </a:r>
            <a:endParaRPr lang="en-US" sz="1400" dirty="0"/>
          </a:p>
          <a:p>
            <a:pPr marL="203200" indent="-203200">
              <a:spcAft>
                <a:spcPts val="700"/>
              </a:spcAft>
              <a:buSzPct val="100000"/>
              <a:buChar char="•"/>
            </a:pPr>
            <a:r>
              <a:rPr lang="en-US" sz="1400" dirty="0">
                <a:solidFill>
                  <a:schemeClr val="tx1"/>
                </a:solidFill>
              </a:rPr>
              <a:t>9 upstream records, every link stored</a:t>
            </a:r>
            <a:endParaRPr lang="en-US" sz="1400" dirty="0"/>
          </a:p>
          <a:p>
            <a:pPr marL="203200" indent="-203200">
              <a:spcAft>
                <a:spcPts val="700"/>
              </a:spcAft>
              <a:buSzPct val="100000"/>
              <a:buChar char="•"/>
            </a:pPr>
            <a:r>
              <a:rPr lang="en-US" sz="1400" dirty="0">
                <a:solidFill>
                  <a:schemeClr val="tx1"/>
                </a:solidFill>
              </a:rPr>
              <a:t>Both products, one harvest</a:t>
            </a:r>
            <a:endParaRPr lang="en-US" sz="1400" dirty="0"/>
          </a:p>
          <a:p>
            <a:pPr marL="203200" indent="-203200">
              <a:spcAft>
                <a:spcPts val="700"/>
              </a:spcAft>
              <a:buSzPct val="100000"/>
              <a:buChar char="•"/>
            </a:pPr>
            <a:r>
              <a:rPr lang="en-US" sz="1400" dirty="0">
                <a:solidFill>
                  <a:schemeClr val="tx1"/>
                </a:solidFill>
              </a:rPr>
              <a:t>Waste lot from Kericho Municipal Market</a:t>
            </a:r>
            <a:endParaRPr lang="en-US" sz="1400" dirty="0"/>
          </a:p>
          <a:p>
            <a:pPr marL="203200" indent="-203200">
              <a:spcAft>
                <a:spcPts val="700"/>
              </a:spcAft>
              <a:buSzPct val="100000"/>
              <a:buChar char="•"/>
            </a:pPr>
            <a:r>
              <a:rPr lang="en-US" sz="1400" dirty="0">
                <a:solidFill>
                  <a:schemeClr val="tx1"/>
                </a:solidFill>
              </a:rPr>
              <a:t>Click any card to trace from there</a:t>
            </a:r>
            <a:endParaRPr lang="en-US" sz="14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The operations dashboard</a:t>
            </a:r>
            <a:endParaRPr lang="en-US" sz="3400" dirty="0"/>
          </a:p>
        </p:txBody>
      </p:sp>
      <p:sp>
        <p:nvSpPr>
          <p:cNvPr id="3" name="shot-frame-90"/>
          <p:cNvSpPr/>
          <p:nvPr/>
        </p:nvSpPr>
        <p:spPr>
          <a:xfrm>
            <a:off x="512064" y="1380744"/>
            <a:ext cx="7022592" cy="441655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4" name="shot-91" descr="material flow">    </p:cNvPr>
          <p:cNvPicPr>
            <a:picLocks noChangeAspect="1"/>
          </p:cNvPicPr>
          <p:nvPr/>
        </p:nvPicPr>
        <p:blipFill>
          <a:blip r:embed="rId1"/>
          <a:stretch>
            <a:fillRect/>
          </a:stretch>
        </p:blipFill>
        <p:spPr>
          <a:xfrm>
            <a:off x="548640" y="1417320"/>
            <a:ext cx="6949440" cy="4343400"/>
          </a:xfrm>
          <a:prstGeom prst="rect">
            <a:avLst/>
          </a:prstGeom>
        </p:spPr>
      </p:pic>
      <p:sp>
        <p:nvSpPr>
          <p:cNvPr id="5" name="tile-1"/>
          <p:cNvSpPr/>
          <p:nvPr/>
        </p:nvSpPr>
        <p:spPr>
          <a:xfrm>
            <a:off x="8001000" y="1417320"/>
            <a:ext cx="3611880" cy="914400"/>
          </a:xfrm>
          <a:prstGeom prst="roundRect">
            <a:avLst>
              <a:gd name="adj" fmla="val 8000"/>
            </a:avLst>
          </a:prstGeom>
          <a:solidFill>
            <a:schemeClr val="bg2"/>
          </a:solidFill>
          <a:ln w="12700">
            <a:solidFill>
              <a:schemeClr val="bg2"/>
            </a:solidFill>
            <a:prstDash val="solid"/>
          </a:ln>
        </p:spPr>
      </p:sp>
      <p:sp>
        <p:nvSpPr>
          <p:cNvPr id="6" name="tile-text-1"/>
          <p:cNvSpPr txBox="1"/>
          <p:nvPr/>
        </p:nvSpPr>
        <p:spPr>
          <a:xfrm>
            <a:off x="8229600" y="1417320"/>
            <a:ext cx="3200400" cy="914400"/>
          </a:xfrm>
          <a:prstGeom prst="rect">
            <a:avLst/>
          </a:prstGeom>
          <a:noFill/>
          <a:ln/>
        </p:spPr>
        <p:txBody>
          <a:bodyPr wrap="square" lIns="0" tIns="0" rIns="0" bIns="0" rtlCol="0" anchor="ctr"/>
          <a:lstStyle/>
          <a:p>
            <a:pPr indent="0" marL="0">
              <a:buNone/>
            </a:pPr>
            <a:r>
              <a:rPr lang="en-US" sz="2600" b="1" dirty="0">
                <a:solidFill>
                  <a:schemeClr val="accent1"/>
                </a:solidFill>
              </a:rPr>
              <a:t>39 kg</a:t>
            </a:r>
            <a:endParaRPr lang="en-US" sz="2600" dirty="0"/>
          </a:p>
          <a:p>
            <a:pPr indent="0" marL="0">
              <a:buNone/>
            </a:pPr>
            <a:r>
              <a:rPr lang="en-US" sz="1300" dirty="0">
                <a:solidFill>
                  <a:schemeClr val="tx1"/>
                </a:solidFill>
              </a:rPr>
              <a:t>harvested</a:t>
            </a:r>
            <a:endParaRPr lang="en-US" sz="2600" dirty="0"/>
          </a:p>
        </p:txBody>
      </p:sp>
      <p:sp>
        <p:nvSpPr>
          <p:cNvPr id="7" name="tile-2"/>
          <p:cNvSpPr/>
          <p:nvPr/>
        </p:nvSpPr>
        <p:spPr>
          <a:xfrm>
            <a:off x="8001000" y="2514600"/>
            <a:ext cx="3611880" cy="914400"/>
          </a:xfrm>
          <a:prstGeom prst="roundRect">
            <a:avLst>
              <a:gd name="adj" fmla="val 8000"/>
            </a:avLst>
          </a:prstGeom>
          <a:solidFill>
            <a:schemeClr val="bg2"/>
          </a:solidFill>
          <a:ln w="12700">
            <a:solidFill>
              <a:schemeClr val="bg2"/>
            </a:solidFill>
            <a:prstDash val="solid"/>
          </a:ln>
        </p:spPr>
      </p:sp>
      <p:sp>
        <p:nvSpPr>
          <p:cNvPr id="8" name="tile-text-2"/>
          <p:cNvSpPr txBox="1"/>
          <p:nvPr/>
        </p:nvSpPr>
        <p:spPr>
          <a:xfrm>
            <a:off x="8229600" y="2514600"/>
            <a:ext cx="3200400" cy="914400"/>
          </a:xfrm>
          <a:prstGeom prst="rect">
            <a:avLst/>
          </a:prstGeom>
          <a:noFill/>
          <a:ln/>
        </p:spPr>
        <p:txBody>
          <a:bodyPr wrap="square" lIns="0" tIns="0" rIns="0" bIns="0" rtlCol="0" anchor="ctr"/>
          <a:lstStyle/>
          <a:p>
            <a:pPr indent="0" marL="0">
              <a:buNone/>
            </a:pPr>
            <a:r>
              <a:rPr lang="en-US" sz="2600" b="1" dirty="0">
                <a:solidFill>
                  <a:schemeClr val="accent1"/>
                </a:solidFill>
              </a:rPr>
              <a:t>13 kg</a:t>
            </a:r>
            <a:endParaRPr lang="en-US" sz="2600" dirty="0"/>
          </a:p>
          <a:p>
            <a:pPr indent="0" marL="0">
              <a:buNone/>
            </a:pPr>
            <a:r>
              <a:rPr lang="en-US" sz="1300" dirty="0">
                <a:solidFill>
                  <a:schemeClr val="tx1"/>
                </a:solidFill>
              </a:rPr>
              <a:t>dried</a:t>
            </a:r>
            <a:endParaRPr lang="en-US" sz="2600" dirty="0"/>
          </a:p>
        </p:txBody>
      </p:sp>
      <p:sp>
        <p:nvSpPr>
          <p:cNvPr id="9" name="tile-3"/>
          <p:cNvSpPr/>
          <p:nvPr/>
        </p:nvSpPr>
        <p:spPr>
          <a:xfrm>
            <a:off x="8001000" y="3611880"/>
            <a:ext cx="3611880" cy="914400"/>
          </a:xfrm>
          <a:prstGeom prst="roundRect">
            <a:avLst>
              <a:gd name="adj" fmla="val 8000"/>
            </a:avLst>
          </a:prstGeom>
          <a:solidFill>
            <a:schemeClr val="bg2"/>
          </a:solidFill>
          <a:ln w="12700">
            <a:solidFill>
              <a:schemeClr val="bg2"/>
            </a:solidFill>
            <a:prstDash val="solid"/>
          </a:ln>
        </p:spPr>
      </p:sp>
      <p:sp>
        <p:nvSpPr>
          <p:cNvPr id="10" name="tile-text-3"/>
          <p:cNvSpPr txBox="1"/>
          <p:nvPr/>
        </p:nvSpPr>
        <p:spPr>
          <a:xfrm>
            <a:off x="8229600" y="3611880"/>
            <a:ext cx="3200400" cy="914400"/>
          </a:xfrm>
          <a:prstGeom prst="rect">
            <a:avLst/>
          </a:prstGeom>
          <a:noFill/>
          <a:ln/>
        </p:spPr>
        <p:txBody>
          <a:bodyPr wrap="square" lIns="0" tIns="0" rIns="0" bIns="0" rtlCol="0" anchor="ctr"/>
          <a:lstStyle/>
          <a:p>
            <a:pPr indent="0" marL="0">
              <a:buNone/>
            </a:pPr>
            <a:r>
              <a:rPr lang="en-US" sz="2600" b="1" dirty="0">
                <a:solidFill>
                  <a:schemeClr val="accent1"/>
                </a:solidFill>
              </a:rPr>
              <a:t>52 kg</a:t>
            </a:r>
            <a:endParaRPr lang="en-US" sz="2600" dirty="0"/>
          </a:p>
          <a:p>
            <a:pPr indent="0" marL="0">
              <a:buNone/>
            </a:pPr>
            <a:r>
              <a:rPr lang="en-US" sz="1300" dirty="0">
                <a:solidFill>
                  <a:schemeClr val="tx1"/>
                </a:solidFill>
              </a:rPr>
              <a:t>frass cured</a:t>
            </a:r>
            <a:endParaRPr lang="en-US" sz="2600" dirty="0"/>
          </a:p>
        </p:txBody>
      </p:sp>
      <p:sp>
        <p:nvSpPr>
          <p:cNvPr id="11" name="tile-4"/>
          <p:cNvSpPr/>
          <p:nvPr/>
        </p:nvSpPr>
        <p:spPr>
          <a:xfrm>
            <a:off x="8001000" y="4709160"/>
            <a:ext cx="3611880" cy="914400"/>
          </a:xfrm>
          <a:prstGeom prst="roundRect">
            <a:avLst>
              <a:gd name="adj" fmla="val 8000"/>
            </a:avLst>
          </a:prstGeom>
          <a:solidFill>
            <a:schemeClr val="bg2"/>
          </a:solidFill>
          <a:ln w="12700">
            <a:solidFill>
              <a:schemeClr val="bg2"/>
            </a:solidFill>
            <a:prstDash val="solid"/>
          </a:ln>
        </p:spPr>
      </p:sp>
      <p:sp>
        <p:nvSpPr>
          <p:cNvPr id="12" name="tile-text-4"/>
          <p:cNvSpPr txBox="1"/>
          <p:nvPr/>
        </p:nvSpPr>
        <p:spPr>
          <a:xfrm>
            <a:off x="8229600" y="4709160"/>
            <a:ext cx="3200400" cy="914400"/>
          </a:xfrm>
          <a:prstGeom prst="rect">
            <a:avLst/>
          </a:prstGeom>
          <a:noFill/>
          <a:ln/>
        </p:spPr>
        <p:txBody>
          <a:bodyPr wrap="square" lIns="0" tIns="0" rIns="0" bIns="0" rtlCol="0" anchor="ctr"/>
          <a:lstStyle/>
          <a:p>
            <a:pPr indent="0" marL="0">
              <a:buNone/>
            </a:pPr>
            <a:r>
              <a:rPr lang="en-US" sz="2600" b="1" dirty="0">
                <a:solidFill>
                  <a:schemeClr val="accent1"/>
                </a:solidFill>
              </a:rPr>
              <a:t>KES 3,800</a:t>
            </a:r>
            <a:endParaRPr lang="en-US" sz="2600" dirty="0"/>
          </a:p>
          <a:p>
            <a:pPr indent="0" marL="0">
              <a:buNone/>
            </a:pPr>
            <a:r>
              <a:rPr lang="en-US" sz="1300" dirty="0">
                <a:solidFill>
                  <a:schemeClr val="tx1"/>
                </a:solidFill>
              </a:rPr>
              <a:t>revenue</a:t>
            </a:r>
            <a:endParaRPr lang="en-US" sz="2600" dirty="0"/>
          </a:p>
        </p:txBody>
      </p:sp>
      <p:sp>
        <p:nvSpPr>
          <p:cNvPr id="13" name="flow-caption"/>
          <p:cNvSpPr txBox="1"/>
          <p:nvPr/>
        </p:nvSpPr>
        <p:spPr>
          <a:xfrm>
            <a:off x="548640" y="5852160"/>
            <a:ext cx="11064240" cy="365760"/>
          </a:xfrm>
          <a:prstGeom prst="rect">
            <a:avLst/>
          </a:prstGeom>
          <a:noFill/>
          <a:ln/>
        </p:spPr>
        <p:txBody>
          <a:bodyPr wrap="square" lIns="0" tIns="0" rIns="0" bIns="0" rtlCol="0" anchor="ctr"/>
          <a:lstStyle/>
          <a:p>
            <a:pPr indent="0" marL="0">
              <a:buNone/>
            </a:pPr>
            <a:r>
              <a:rPr lang="en-US" sz="1300" dirty="0">
                <a:solidFill>
                  <a:schemeClr val="accent5"/>
                </a:solidFill>
              </a:rPr>
              <a:t>Material flow: waste 195 → substrate 120 → harvest 39 → dried 13; frass 60 → cured 52 → released 52</a:t>
            </a:r>
            <a:endParaRPr lang="en-US" sz="13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Batch 360 and reports</a:t>
            </a:r>
            <a:endParaRPr lang="en-US" sz="3400" dirty="0"/>
          </a:p>
        </p:txBody>
      </p:sp>
      <p:sp>
        <p:nvSpPr>
          <p:cNvPr id="3" name="shot-frame-92"/>
          <p:cNvSpPr/>
          <p:nvPr/>
        </p:nvSpPr>
        <p:spPr>
          <a:xfrm>
            <a:off x="512064" y="1380744"/>
            <a:ext cx="5468112" cy="344500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4" name="shot-93" descr="batch 360">    </p:cNvPr>
          <p:cNvPicPr>
            <a:picLocks noChangeAspect="1"/>
          </p:cNvPicPr>
          <p:nvPr/>
        </p:nvPicPr>
        <p:blipFill>
          <a:blip r:embed="rId1"/>
          <a:stretch>
            <a:fillRect/>
          </a:stretch>
        </p:blipFill>
        <p:spPr>
          <a:xfrm>
            <a:off x="548640" y="1417320"/>
            <a:ext cx="5394960" cy="3371850"/>
          </a:xfrm>
          <a:prstGeom prst="rect">
            <a:avLst/>
          </a:prstGeom>
        </p:spPr>
      </p:pic>
      <p:sp>
        <p:nvSpPr>
          <p:cNvPr id="5" name="shot-frame-94"/>
          <p:cNvSpPr/>
          <p:nvPr/>
        </p:nvSpPr>
        <p:spPr>
          <a:xfrm>
            <a:off x="6181344" y="1380744"/>
            <a:ext cx="5468112" cy="3445002"/>
          </a:xfrm>
          <a:prstGeom prst="rect">
            <a:avLst/>
          </a:prstGeom>
          <a:solidFill>
            <a:schemeClr val="bg1"/>
          </a:solidFill>
          <a:ln w="12700">
            <a:solidFill>
              <a:srgbClr val="DFE7E2"/>
            </a:solidFill>
            <a:prstDash val="solid"/>
          </a:ln>
          <a:effectLst>
            <a:outerShdw sx="100000" sy="100000" kx="0" ky="0" algn="bl" rotWithShape="0" blurRad="76200" dist="25400" dir="5400000">
              <a:srgbClr val="000000">
                <a:alpha val="12000"/>
              </a:srgbClr>
            </a:outerShdw>
          </a:effectLst>
        </p:spPr>
      </p:sp>
      <p:pic>
        <p:nvPicPr>
          <p:cNvPr id="6" name="shot-95" descr="reports">    </p:cNvPr>
          <p:cNvPicPr>
            <a:picLocks noChangeAspect="1"/>
          </p:cNvPicPr>
          <p:nvPr/>
        </p:nvPicPr>
        <p:blipFill>
          <a:blip r:embed="rId2"/>
          <a:stretch>
            <a:fillRect/>
          </a:stretch>
        </p:blipFill>
        <p:spPr>
          <a:xfrm>
            <a:off x="6217920" y="1417320"/>
            <a:ext cx="5394960" cy="3371850"/>
          </a:xfrm>
          <a:prstGeom prst="rect">
            <a:avLst/>
          </a:prstGeom>
        </p:spPr>
      </p:pic>
      <p:sp>
        <p:nvSpPr>
          <p:cNvPr id="7" name="b360-caption"/>
          <p:cNvSpPr txBox="1"/>
          <p:nvPr/>
        </p:nvSpPr>
        <p:spPr>
          <a:xfrm>
            <a:off x="548640" y="4937760"/>
            <a:ext cx="5394960" cy="685800"/>
          </a:xfrm>
          <a:prstGeom prst="rect">
            <a:avLst/>
          </a:prstGeom>
          <a:noFill/>
          <a:ln/>
        </p:spPr>
        <p:txBody>
          <a:bodyPr wrap="square" lIns="0" tIns="0" rIns="0" bIns="0" rtlCol="0" anchor="t"/>
          <a:lstStyle/>
          <a:p>
            <a:pPr indent="0" marL="0">
              <a:buNone/>
            </a:pPr>
            <a:r>
              <a:rPr lang="en-US" sz="1400" dirty="0">
                <a:solidFill>
                  <a:schemeClr val="tx1"/>
                </a:solidFill>
              </a:rPr>
              <a:t>Batch 360: one batch end to end, with frass, quality, stock, customers and audit trail</a:t>
            </a:r>
            <a:endParaRPr lang="en-US" sz="1400" dirty="0"/>
          </a:p>
        </p:txBody>
      </p:sp>
      <p:sp>
        <p:nvSpPr>
          <p:cNvPr id="8" name="reports-caption"/>
          <p:cNvSpPr txBox="1"/>
          <p:nvPr/>
        </p:nvSpPr>
        <p:spPr>
          <a:xfrm>
            <a:off x="6217920" y="4937760"/>
            <a:ext cx="5394960" cy="685800"/>
          </a:xfrm>
          <a:prstGeom prst="rect">
            <a:avLst/>
          </a:prstGeom>
          <a:noFill/>
          <a:ln/>
        </p:spPr>
        <p:txBody>
          <a:bodyPr wrap="square" lIns="0" tIns="0" rIns="0" bIns="0" rtlCol="0" anchor="t"/>
          <a:lstStyle/>
          <a:p>
            <a:pPr indent="0" marL="0">
              <a:buNone/>
            </a:pPr>
            <a:r>
              <a:rPr lang="en-US" sz="1400" dirty="0">
                <a:solidFill>
                  <a:schemeClr val="tx1"/>
                </a:solidFill>
              </a:rPr>
              <a:t>14 reports, including Frass &amp; fertiliser and Farm performance, each to CSV, Excel or PDF</a:t>
            </a:r>
            <a:endParaRPr lang="en-US" sz="14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Rules the system enforces</a:t>
            </a:r>
            <a:endParaRPr lang="en-US" sz="3400" dirty="0"/>
          </a:p>
        </p:txBody>
      </p:sp>
      <p:sp>
        <p:nvSpPr>
          <p:cNvPr id="3" name="rule-dot-1"/>
          <p:cNvSpPr/>
          <p:nvPr/>
        </p:nvSpPr>
        <p:spPr>
          <a:xfrm>
            <a:off x="548640" y="1536192"/>
            <a:ext cx="640080" cy="640080"/>
          </a:xfrm>
          <a:prstGeom prst="ellipse">
            <a:avLst/>
          </a:prstGeom>
          <a:solidFill>
            <a:schemeClr val="accent1"/>
          </a:solidFill>
          <a:ln w="12700">
            <a:solidFill>
              <a:schemeClr val="accent1"/>
            </a:solidFill>
            <a:prstDash val="solid"/>
          </a:ln>
        </p:spPr>
      </p:sp>
      <p:sp>
        <p:nvSpPr>
          <p:cNvPr id="4" name="rule-num-1"/>
          <p:cNvSpPr txBox="1"/>
          <p:nvPr/>
        </p:nvSpPr>
        <p:spPr>
          <a:xfrm>
            <a:off x="548640" y="15361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rule-text-1"/>
          <p:cNvSpPr txBox="1"/>
          <p:nvPr/>
        </p:nvSpPr>
        <p:spPr>
          <a:xfrm>
            <a:off x="1417320" y="146304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Traceability built in</a:t>
            </a:r>
            <a:endParaRPr lang="en-US" sz="1700" dirty="0"/>
          </a:p>
          <a:p>
            <a:pPr indent="0" marL="0">
              <a:buNone/>
            </a:pPr>
            <a:r>
              <a:rPr lang="en-US" sz="1400" dirty="0">
                <a:solidFill>
                  <a:schemeClr val="tx1"/>
                </a:solidFill>
              </a:rPr>
              <a:t>Every record links to its source</a:t>
            </a:r>
            <a:endParaRPr lang="en-US" sz="1700" dirty="0"/>
          </a:p>
        </p:txBody>
      </p:sp>
      <p:sp>
        <p:nvSpPr>
          <p:cNvPr id="6" name="rule-dot-2"/>
          <p:cNvSpPr/>
          <p:nvPr/>
        </p:nvSpPr>
        <p:spPr>
          <a:xfrm>
            <a:off x="548640" y="2633472"/>
            <a:ext cx="640080" cy="640080"/>
          </a:xfrm>
          <a:prstGeom prst="ellipse">
            <a:avLst/>
          </a:prstGeom>
          <a:solidFill>
            <a:schemeClr val="accent1"/>
          </a:solidFill>
          <a:ln w="12700">
            <a:solidFill>
              <a:schemeClr val="accent1"/>
            </a:solidFill>
            <a:prstDash val="solid"/>
          </a:ln>
        </p:spPr>
      </p:sp>
      <p:sp>
        <p:nvSpPr>
          <p:cNvPr id="7" name="rule-num-2"/>
          <p:cNvSpPr txBox="1"/>
          <p:nvPr/>
        </p:nvSpPr>
        <p:spPr>
          <a:xfrm>
            <a:off x="548640" y="263347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8" name="rule-text-2"/>
          <p:cNvSpPr txBox="1"/>
          <p:nvPr/>
        </p:nvSpPr>
        <p:spPr>
          <a:xfrm>
            <a:off x="1417320" y="256032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Quality gate</a:t>
            </a:r>
            <a:endParaRPr lang="en-US" sz="1700" dirty="0"/>
          </a:p>
          <a:p>
            <a:pPr indent="0" marL="0">
              <a:buNone/>
            </a:pPr>
            <a:r>
              <a:rPr lang="en-US" sz="1400" dirty="0">
                <a:solidFill>
                  <a:schemeClr val="tx1"/>
                </a:solidFill>
              </a:rPr>
              <a:t>No stock without a passed check and approval</a:t>
            </a:r>
            <a:endParaRPr lang="en-US" sz="1700" dirty="0"/>
          </a:p>
        </p:txBody>
      </p:sp>
      <p:sp>
        <p:nvSpPr>
          <p:cNvPr id="9" name="rule-dot-3"/>
          <p:cNvSpPr/>
          <p:nvPr/>
        </p:nvSpPr>
        <p:spPr>
          <a:xfrm>
            <a:off x="548640" y="3730752"/>
            <a:ext cx="640080" cy="640080"/>
          </a:xfrm>
          <a:prstGeom prst="ellipse">
            <a:avLst/>
          </a:prstGeom>
          <a:solidFill>
            <a:schemeClr val="accent1"/>
          </a:solidFill>
          <a:ln w="12700">
            <a:solidFill>
              <a:schemeClr val="accent1"/>
            </a:solidFill>
            <a:prstDash val="solid"/>
          </a:ln>
        </p:spPr>
      </p:sp>
      <p:sp>
        <p:nvSpPr>
          <p:cNvPr id="10" name="rule-num-3"/>
          <p:cNvSpPr txBox="1"/>
          <p:nvPr/>
        </p:nvSpPr>
        <p:spPr>
          <a:xfrm>
            <a:off x="548640" y="37307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1" name="rule-text-3"/>
          <p:cNvSpPr txBox="1"/>
          <p:nvPr/>
        </p:nvSpPr>
        <p:spPr>
          <a:xfrm>
            <a:off x="1417320" y="365760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Mass balance</a:t>
            </a:r>
            <a:endParaRPr lang="en-US" sz="1700" dirty="0"/>
          </a:p>
          <a:p>
            <a:pPr indent="0" marL="0">
              <a:buNone/>
            </a:pPr>
            <a:r>
              <a:rPr lang="en-US" sz="1400" dirty="0">
                <a:solidFill>
                  <a:schemeClr val="tx1"/>
                </a:solidFill>
              </a:rPr>
              <a:t>Never use more than exists or the harvest limit</a:t>
            </a:r>
            <a:endParaRPr lang="en-US" sz="1700" dirty="0"/>
          </a:p>
        </p:txBody>
      </p:sp>
      <p:sp>
        <p:nvSpPr>
          <p:cNvPr id="12" name="rule-dot-4"/>
          <p:cNvSpPr/>
          <p:nvPr/>
        </p:nvSpPr>
        <p:spPr>
          <a:xfrm>
            <a:off x="548640" y="4828032"/>
            <a:ext cx="640080" cy="640080"/>
          </a:xfrm>
          <a:prstGeom prst="ellipse">
            <a:avLst/>
          </a:prstGeom>
          <a:solidFill>
            <a:schemeClr val="accent1"/>
          </a:solidFill>
          <a:ln w="12700">
            <a:solidFill>
              <a:schemeClr val="accent1"/>
            </a:solidFill>
            <a:prstDash val="solid"/>
          </a:ln>
        </p:spPr>
      </p:sp>
      <p:sp>
        <p:nvSpPr>
          <p:cNvPr id="13" name="rule-num-4"/>
          <p:cNvSpPr txBox="1"/>
          <p:nvPr/>
        </p:nvSpPr>
        <p:spPr>
          <a:xfrm>
            <a:off x="548640" y="482803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4" name="rule-text-4"/>
          <p:cNvSpPr txBox="1"/>
          <p:nvPr/>
        </p:nvSpPr>
        <p:spPr>
          <a:xfrm>
            <a:off x="1417320" y="475488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No future dates</a:t>
            </a:r>
            <a:endParaRPr lang="en-US" sz="1700" dirty="0"/>
          </a:p>
          <a:p>
            <a:pPr indent="0" marL="0">
              <a:buNone/>
            </a:pPr>
            <a:r>
              <a:rPr lang="en-US" sz="1400" dirty="0">
                <a:solidFill>
                  <a:schemeClr val="tx1"/>
                </a:solidFill>
              </a:rPr>
              <a:t>Records cannot be dated ahead</a:t>
            </a:r>
            <a:endParaRPr lang="en-US" sz="1700" dirty="0"/>
          </a:p>
        </p:txBody>
      </p:sp>
      <p:sp>
        <p:nvSpPr>
          <p:cNvPr id="15" name="rule-dot-5"/>
          <p:cNvSpPr/>
          <p:nvPr/>
        </p:nvSpPr>
        <p:spPr>
          <a:xfrm>
            <a:off x="6263640" y="1536192"/>
            <a:ext cx="640080" cy="640080"/>
          </a:xfrm>
          <a:prstGeom prst="ellipse">
            <a:avLst/>
          </a:prstGeom>
          <a:solidFill>
            <a:schemeClr val="accent1"/>
          </a:solidFill>
          <a:ln w="12700">
            <a:solidFill>
              <a:schemeClr val="accent1"/>
            </a:solidFill>
            <a:prstDash val="solid"/>
          </a:ln>
        </p:spPr>
      </p:sp>
      <p:sp>
        <p:nvSpPr>
          <p:cNvPr id="16" name="rule-num-5"/>
          <p:cNvSpPr txBox="1"/>
          <p:nvPr/>
        </p:nvSpPr>
        <p:spPr>
          <a:xfrm>
            <a:off x="6263640" y="153619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7" name="rule-text-5"/>
          <p:cNvSpPr txBox="1"/>
          <p:nvPr/>
        </p:nvSpPr>
        <p:spPr>
          <a:xfrm>
            <a:off x="7132320" y="146304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Location access</a:t>
            </a:r>
            <a:endParaRPr lang="en-US" sz="1700" dirty="0"/>
          </a:p>
          <a:p>
            <a:pPr indent="0" marL="0">
              <a:buNone/>
            </a:pPr>
            <a:r>
              <a:rPr lang="en-US" sz="1400" dirty="0">
                <a:solidFill>
                  <a:schemeClr val="tx1"/>
                </a:solidFill>
              </a:rPr>
              <a:t>People see only their farms and facilities</a:t>
            </a:r>
            <a:endParaRPr lang="en-US" sz="1700" dirty="0"/>
          </a:p>
        </p:txBody>
      </p:sp>
      <p:sp>
        <p:nvSpPr>
          <p:cNvPr id="18" name="rule-dot-6"/>
          <p:cNvSpPr/>
          <p:nvPr/>
        </p:nvSpPr>
        <p:spPr>
          <a:xfrm>
            <a:off x="6263640" y="2633472"/>
            <a:ext cx="640080" cy="640080"/>
          </a:xfrm>
          <a:prstGeom prst="ellipse">
            <a:avLst/>
          </a:prstGeom>
          <a:solidFill>
            <a:schemeClr val="accent1"/>
          </a:solidFill>
          <a:ln w="12700">
            <a:solidFill>
              <a:schemeClr val="accent1"/>
            </a:solidFill>
            <a:prstDash val="solid"/>
          </a:ln>
        </p:spPr>
      </p:sp>
      <p:sp>
        <p:nvSpPr>
          <p:cNvPr id="19" name="rule-num-6"/>
          <p:cNvSpPr txBox="1"/>
          <p:nvPr/>
        </p:nvSpPr>
        <p:spPr>
          <a:xfrm>
            <a:off x="6263640" y="263347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0" name="rule-text-6"/>
          <p:cNvSpPr txBox="1"/>
          <p:nvPr/>
        </p:nvSpPr>
        <p:spPr>
          <a:xfrm>
            <a:off x="7132320" y="256032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Roles</a:t>
            </a:r>
            <a:endParaRPr lang="en-US" sz="1700" dirty="0"/>
          </a:p>
          <a:p>
            <a:pPr indent="0" marL="0">
              <a:buNone/>
            </a:pPr>
            <a:r>
              <a:rPr lang="en-US" sz="1400" dirty="0">
                <a:solidFill>
                  <a:schemeClr val="tx1"/>
                </a:solidFill>
              </a:rPr>
              <a:t>Operators record, QC decides, sales sells</a:t>
            </a:r>
            <a:endParaRPr lang="en-US" sz="1700" dirty="0"/>
          </a:p>
        </p:txBody>
      </p:sp>
      <p:sp>
        <p:nvSpPr>
          <p:cNvPr id="21" name="rule-dot-7"/>
          <p:cNvSpPr/>
          <p:nvPr/>
        </p:nvSpPr>
        <p:spPr>
          <a:xfrm>
            <a:off x="6263640" y="3730752"/>
            <a:ext cx="640080" cy="640080"/>
          </a:xfrm>
          <a:prstGeom prst="ellipse">
            <a:avLst/>
          </a:prstGeom>
          <a:solidFill>
            <a:schemeClr val="accent1"/>
          </a:solidFill>
          <a:ln w="12700">
            <a:solidFill>
              <a:schemeClr val="accent1"/>
            </a:solidFill>
            <a:prstDash val="solid"/>
          </a:ln>
        </p:spPr>
      </p:sp>
      <p:sp>
        <p:nvSpPr>
          <p:cNvPr id="22" name="rule-num-7"/>
          <p:cNvSpPr txBox="1"/>
          <p:nvPr/>
        </p:nvSpPr>
        <p:spPr>
          <a:xfrm>
            <a:off x="6263640" y="373075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23" name="rule-text-7"/>
          <p:cNvSpPr txBox="1"/>
          <p:nvPr/>
        </p:nvSpPr>
        <p:spPr>
          <a:xfrm>
            <a:off x="7132320" y="365760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Full audit trail</a:t>
            </a:r>
            <a:endParaRPr lang="en-US" sz="1700" dirty="0"/>
          </a:p>
          <a:p>
            <a:pPr indent="0" marL="0">
              <a:buNone/>
            </a:pPr>
            <a:r>
              <a:rPr lang="en-US" sz="1400" dirty="0">
                <a:solidFill>
                  <a:schemeClr val="tx1"/>
                </a:solidFill>
              </a:rPr>
              <a:t>Every change records who and when</a:t>
            </a:r>
            <a:endParaRPr lang="en-US" sz="1700" dirty="0"/>
          </a:p>
        </p:txBody>
      </p:sp>
      <p:sp>
        <p:nvSpPr>
          <p:cNvPr id="24" name="rule-dot-8"/>
          <p:cNvSpPr/>
          <p:nvPr/>
        </p:nvSpPr>
        <p:spPr>
          <a:xfrm>
            <a:off x="6263640" y="4828032"/>
            <a:ext cx="640080" cy="640080"/>
          </a:xfrm>
          <a:prstGeom prst="ellipse">
            <a:avLst/>
          </a:prstGeom>
          <a:solidFill>
            <a:schemeClr val="accent1"/>
          </a:solidFill>
          <a:ln w="12700">
            <a:solidFill>
              <a:schemeClr val="accent1"/>
            </a:solidFill>
            <a:prstDash val="solid"/>
          </a:ln>
        </p:spPr>
      </p:sp>
      <p:sp>
        <p:nvSpPr>
          <p:cNvPr id="25" name="rule-num-8"/>
          <p:cNvSpPr txBox="1"/>
          <p:nvPr/>
        </p:nvSpPr>
        <p:spPr>
          <a:xfrm>
            <a:off x="6263640" y="4828032"/>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sp>
        <p:nvSpPr>
          <p:cNvPr id="26" name="rule-text-8"/>
          <p:cNvSpPr txBox="1"/>
          <p:nvPr/>
        </p:nvSpPr>
        <p:spPr>
          <a:xfrm>
            <a:off x="7132320" y="4754880"/>
            <a:ext cx="4480560" cy="868680"/>
          </a:xfrm>
          <a:prstGeom prst="rect">
            <a:avLst/>
          </a:prstGeom>
          <a:noFill/>
          <a:ln/>
        </p:spPr>
        <p:txBody>
          <a:bodyPr wrap="square" lIns="0" tIns="0" rIns="0" bIns="0" rtlCol="0" anchor="ctr"/>
          <a:lstStyle/>
          <a:p>
            <a:pPr indent="0" marL="0">
              <a:buNone/>
            </a:pPr>
            <a:r>
              <a:rPr lang="en-US" sz="1700" b="1" dirty="0">
                <a:solidFill>
                  <a:schemeClr val="tx2"/>
                </a:solidFill>
              </a:rPr>
              <a:t>Nothing deleted once used</a:t>
            </a:r>
            <a:endParaRPr lang="en-US" sz="1700" dirty="0"/>
          </a:p>
          <a:p>
            <a:pPr indent="0" marL="0">
              <a:buNone/>
            </a:pPr>
            <a:r>
              <a:rPr lang="en-US" sz="1400" dirty="0">
                <a:solidFill>
                  <a:schemeClr val="tx1"/>
                </a:solidFill>
              </a:rPr>
              <a:t>Deactivate or reverse instead</a:t>
            </a:r>
            <a:endParaRPr lang="en-US" sz="1700" dirty="0"/>
          </a:p>
        </p:txBody>
      </p:sp>
      <p:sp>
        <p:nvSpPr>
          <p:cNvPr id="25" name="Slide Number Placeholder 0"/>
          <p:cNvSpPr>
            <a:spLocks noGrp="1"/>
          </p:cNvSpPr>
          <p:nvPr>
            <p:ph type="sldNum" sz="quarter" idx="4294967295"/>
          </p:nvPr>
        </p:nvSpPr>
        <p:spPr>
          <a:xfrm>
            <a:off x="11064240" y="6336792"/>
            <a:ext cx="594360" cy="310896"/>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731520" y="548640"/>
            <a:ext cx="10698480" cy="914400"/>
          </a:xfrm>
          <a:prstGeom prst="rect">
            <a:avLst/>
          </a:prstGeom>
          <a:noFill/>
          <a:ln/>
        </p:spPr>
        <p:txBody>
          <a:bodyPr wrap="square" lIns="0" tIns="0" rIns="0" bIns="0" rtlCol="0" anchor="ctr"/>
          <a:lstStyle/>
          <a:p>
            <a:pPr indent="0" marL="0">
              <a:buNone/>
            </a:pPr>
            <a:r>
              <a:rPr lang="en-US" sz="3600" b="1" dirty="0">
                <a:solidFill>
                  <a:schemeClr val="bg1"/>
                </a:solidFill>
              </a:rPr>
              <a:t>What comes next</a:t>
            </a:r>
            <a:endParaRPr lang="en-US" sz="3600" dirty="0"/>
          </a:p>
        </p:txBody>
      </p:sp>
      <p:sp>
        <p:nvSpPr>
          <p:cNvPr id="3" name="next-dot-1"/>
          <p:cNvSpPr/>
          <p:nvPr/>
        </p:nvSpPr>
        <p:spPr>
          <a:xfrm>
            <a:off x="731520" y="1847088"/>
            <a:ext cx="457200" cy="457200"/>
          </a:xfrm>
          <a:prstGeom prst="ellipse">
            <a:avLst/>
          </a:prstGeom>
          <a:solidFill>
            <a:schemeClr val="accent1"/>
          </a:solidFill>
          <a:ln w="12700">
            <a:solidFill>
              <a:schemeClr val="accent1"/>
            </a:solidFill>
            <a:prstDash val="solid"/>
          </a:ln>
        </p:spPr>
      </p:sp>
      <p:sp>
        <p:nvSpPr>
          <p:cNvPr id="4" name="next-text-1"/>
          <p:cNvSpPr txBox="1"/>
          <p:nvPr/>
        </p:nvSpPr>
        <p:spPr>
          <a:xfrm>
            <a:off x="1417320" y="1737360"/>
            <a:ext cx="9966960" cy="685800"/>
          </a:xfrm>
          <a:prstGeom prst="rect">
            <a:avLst/>
          </a:prstGeom>
          <a:noFill/>
          <a:ln/>
        </p:spPr>
        <p:txBody>
          <a:bodyPr wrap="square" lIns="0" tIns="0" rIns="0" bIns="0" rtlCol="0" anchor="ctr"/>
          <a:lstStyle/>
          <a:p>
            <a:pPr indent="0" marL="0">
              <a:buNone/>
            </a:pPr>
            <a:r>
              <a:rPr lang="en-US" sz="2000" b="1" dirty="0">
                <a:solidFill>
                  <a:schemeClr val="bg1"/>
                </a:solidFill>
              </a:rPr>
              <a:t>Sales ledger  </a:t>
            </a:r>
            <a:pPr indent="0" marL="0">
              <a:buNone/>
            </a:pPr>
            <a:r>
              <a:rPr lang="en-US" sz="1600" dirty="0">
                <a:solidFill>
                  <a:schemeClr val="accent6"/>
                </a:solidFill>
              </a:rPr>
              <a:t>Invoices, payments (M-Pesa, bank, cash), customer balances</a:t>
            </a:r>
            <a:endParaRPr lang="en-US" sz="2000" dirty="0"/>
          </a:p>
        </p:txBody>
      </p:sp>
      <p:sp>
        <p:nvSpPr>
          <p:cNvPr id="5" name="next-dot-2"/>
          <p:cNvSpPr/>
          <p:nvPr/>
        </p:nvSpPr>
        <p:spPr>
          <a:xfrm>
            <a:off x="731520" y="2807208"/>
            <a:ext cx="457200" cy="457200"/>
          </a:xfrm>
          <a:prstGeom prst="ellipse">
            <a:avLst/>
          </a:prstGeom>
          <a:solidFill>
            <a:schemeClr val="accent1"/>
          </a:solidFill>
          <a:ln w="12700">
            <a:solidFill>
              <a:schemeClr val="accent1"/>
            </a:solidFill>
            <a:prstDash val="solid"/>
          </a:ln>
        </p:spPr>
      </p:sp>
      <p:sp>
        <p:nvSpPr>
          <p:cNvPr id="6" name="next-text-2"/>
          <p:cNvSpPr txBox="1"/>
          <p:nvPr/>
        </p:nvSpPr>
        <p:spPr>
          <a:xfrm>
            <a:off x="1417320" y="2697480"/>
            <a:ext cx="9966960" cy="685800"/>
          </a:xfrm>
          <a:prstGeom prst="rect">
            <a:avLst/>
          </a:prstGeom>
          <a:noFill/>
          <a:ln/>
        </p:spPr>
        <p:txBody>
          <a:bodyPr wrap="square" lIns="0" tIns="0" rIns="0" bIns="0" rtlCol="0" anchor="ctr"/>
          <a:lstStyle/>
          <a:p>
            <a:pPr indent="0" marL="0">
              <a:buNone/>
            </a:pPr>
            <a:r>
              <a:rPr lang="en-US" sz="2000" b="1" dirty="0">
                <a:solidFill>
                  <a:schemeClr val="bg1"/>
                </a:solidFill>
              </a:rPr>
              <a:t>Waste collection page  </a:t>
            </a:r>
            <a:pPr indent="0" marL="0">
              <a:buNone/>
            </a:pPr>
            <a:r>
              <a:rPr lang="en-US" sz="1600" dirty="0">
                <a:solidFill>
                  <a:schemeClr val="accent6"/>
                </a:solidFill>
              </a:rPr>
              <a:t>Redesigned intake screen, already built</a:t>
            </a:r>
            <a:endParaRPr lang="en-US" sz="2000" dirty="0"/>
          </a:p>
        </p:txBody>
      </p:sp>
      <p:sp>
        <p:nvSpPr>
          <p:cNvPr id="7" name="next-dot-3"/>
          <p:cNvSpPr/>
          <p:nvPr/>
        </p:nvSpPr>
        <p:spPr>
          <a:xfrm>
            <a:off x="731520" y="3767328"/>
            <a:ext cx="457200" cy="457200"/>
          </a:xfrm>
          <a:prstGeom prst="ellipse">
            <a:avLst/>
          </a:prstGeom>
          <a:solidFill>
            <a:schemeClr val="accent1"/>
          </a:solidFill>
          <a:ln w="12700">
            <a:solidFill>
              <a:schemeClr val="accent1"/>
            </a:solidFill>
            <a:prstDash val="solid"/>
          </a:ln>
        </p:spPr>
      </p:sp>
      <p:sp>
        <p:nvSpPr>
          <p:cNvPr id="8" name="next-text-3"/>
          <p:cNvSpPr txBox="1"/>
          <p:nvPr/>
        </p:nvSpPr>
        <p:spPr>
          <a:xfrm>
            <a:off x="1417320" y="3657600"/>
            <a:ext cx="9966960" cy="685800"/>
          </a:xfrm>
          <a:prstGeom prst="rect">
            <a:avLst/>
          </a:prstGeom>
          <a:noFill/>
          <a:ln/>
        </p:spPr>
        <p:txBody>
          <a:bodyPr wrap="square" lIns="0" tIns="0" rIns="0" bIns="0" rtlCol="0" anchor="ctr"/>
          <a:lstStyle/>
          <a:p>
            <a:pPr indent="0" marL="0">
              <a:buNone/>
            </a:pPr>
            <a:r>
              <a:rPr lang="en-US" sz="2000" b="1" dirty="0">
                <a:solidFill>
                  <a:schemeClr val="bg1"/>
                </a:solidFill>
              </a:rPr>
              <a:t>Cost tracking  </a:t>
            </a:r>
            <a:pPr indent="0" marL="0">
              <a:buNone/>
            </a:pPr>
            <a:r>
              <a:rPr lang="en-US" sz="1600" dirty="0">
                <a:solidFill>
                  <a:schemeClr val="accent6"/>
                </a:solidFill>
              </a:rPr>
              <a:t>Cost per kilogram and margins</a:t>
            </a:r>
            <a:endParaRPr lang="en-US" sz="2000" dirty="0"/>
          </a:p>
        </p:txBody>
      </p:sp>
      <p:sp>
        <p:nvSpPr>
          <p:cNvPr id="9" name="next-dot-4"/>
          <p:cNvSpPr/>
          <p:nvPr/>
        </p:nvSpPr>
        <p:spPr>
          <a:xfrm>
            <a:off x="731520" y="4727448"/>
            <a:ext cx="457200" cy="457200"/>
          </a:xfrm>
          <a:prstGeom prst="ellipse">
            <a:avLst/>
          </a:prstGeom>
          <a:solidFill>
            <a:schemeClr val="accent1"/>
          </a:solidFill>
          <a:ln w="12700">
            <a:solidFill>
              <a:schemeClr val="accent1"/>
            </a:solidFill>
            <a:prstDash val="solid"/>
          </a:ln>
        </p:spPr>
      </p:sp>
      <p:sp>
        <p:nvSpPr>
          <p:cNvPr id="10" name="next-text-4"/>
          <p:cNvSpPr txBox="1"/>
          <p:nvPr/>
        </p:nvSpPr>
        <p:spPr>
          <a:xfrm>
            <a:off x="1417320" y="4617720"/>
            <a:ext cx="9966960" cy="685800"/>
          </a:xfrm>
          <a:prstGeom prst="rect">
            <a:avLst/>
          </a:prstGeom>
          <a:noFill/>
          <a:ln/>
        </p:spPr>
        <p:txBody>
          <a:bodyPr wrap="square" lIns="0" tIns="0" rIns="0" bIns="0" rtlCol="0" anchor="ctr"/>
          <a:lstStyle/>
          <a:p>
            <a:pPr indent="0" marL="0">
              <a:buNone/>
            </a:pPr>
            <a:r>
              <a:rPr lang="en-US" sz="2000" b="1" dirty="0">
                <a:solidFill>
                  <a:schemeClr val="bg1"/>
                </a:solidFill>
              </a:rPr>
              <a:t>Breeding links  </a:t>
            </a:r>
            <a:pPr indent="0" marL="0">
              <a:buNone/>
            </a:pPr>
            <a:r>
              <a:rPr lang="en-US" sz="1600" dirty="0">
                <a:solidFill>
                  <a:schemeClr val="accent6"/>
                </a:solidFill>
              </a:rPr>
              <a:t>Hatchery and fly records connected to batches</a:t>
            </a:r>
            <a:endParaRPr lang="en-US" sz="2000" dirty="0"/>
          </a:p>
        </p:txBody>
      </p:sp>
      <p:sp>
        <p:nvSpPr>
          <p:cNvPr id="11" name="questions"/>
          <p:cNvSpPr txBox="1"/>
          <p:nvPr/>
        </p:nvSpPr>
        <p:spPr>
          <a:xfrm>
            <a:off x="731520" y="5623560"/>
            <a:ext cx="5486400" cy="548640"/>
          </a:xfrm>
          <a:prstGeom prst="rect">
            <a:avLst/>
          </a:prstGeom>
          <a:noFill/>
          <a:ln/>
        </p:spPr>
        <p:txBody>
          <a:bodyPr wrap="square" lIns="0" tIns="0" rIns="0" bIns="0" rtlCol="0" anchor="ctr"/>
          <a:lstStyle/>
          <a:p>
            <a:pPr indent="0" marL="0">
              <a:buNone/>
            </a:pPr>
            <a:r>
              <a:rPr lang="en-US" sz="2600" b="1" dirty="0">
                <a:solidFill>
                  <a:schemeClr val="bg1"/>
                </a:solidFill>
              </a:rPr>
              <a:t>Questions?</a:t>
            </a:r>
            <a:endParaRPr lang="en-US" sz="2600" dirty="0"/>
          </a:p>
        </p:txBody>
      </p:sp>
    </p:spTree>
  </p:cSld>
  <p:clrMapOvr>
    <a:masterClrMapping/>
  </p:clrMapOvr>
</p:sld>
</file>

<file path=ppt/theme/theme1.xml><?xml version="1.0" encoding="utf-8"?>
<a:theme xmlns:a="http://schemas.openxmlformats.org/drawingml/2006/main" name="Zehunger Solutions">
  <a:themeElements>
    <a:clrScheme name="Zehunger Solutions">
      <a:dk1>
        <a:srgbClr val="16302A"/>
      </a:dk1>
      <a:lt1>
        <a:srgbClr val="FFFFFF"/>
      </a:lt1>
      <a:dk2>
        <a:srgbClr val="143C2D"/>
      </a:dk2>
      <a:lt2>
        <a:srgbClr val="E6F4EC"/>
      </a:lt2>
      <a:accent1>
        <a:srgbClr val="19804B"/>
      </a:accent1>
      <a:accent2>
        <a:srgbClr val="3B6FB6"/>
      </a:accent2>
      <a:accent3>
        <a:srgbClr val="A86A12"/>
      </a:accent3>
      <a:accent4>
        <a:srgbClr val="A13B30"/>
      </a:accent4>
      <a:accent5>
        <a:srgbClr val="5B6D64"/>
      </a:accent5>
      <a:accent6>
        <a:srgbClr val="B9DCC8"/>
      </a:accent6>
      <a:hlink>
        <a:srgbClr val="19804B"/>
      </a:hlink>
      <a:folHlink>
        <a:srgbClr val="14653B"/>
      </a:folHlink>
    </a:clrScheme>
    <a:fontScheme name="Zehunger Solution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Zehunger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Zehunger Solutions - Phase One Walkthrough Guide</dc:title>
  <dc:subject>PptxGenJS Presentation</dc:subject>
  <dc:creator>Zehunger Solutions</dc:creator>
  <cp:lastModifiedBy>Zehunger Solutions</cp:lastModifiedBy>
  <cp:revision>1</cp:revision>
  <dcterms:created xsi:type="dcterms:W3CDTF">2026-10-30T16:30:32Z</dcterms:created>
  <dcterms:modified xsi:type="dcterms:W3CDTF">2026-10-30T16:30:32Z</dcterms:modified>
</cp:coreProperties>
</file>